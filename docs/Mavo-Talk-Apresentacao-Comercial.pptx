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vo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7863840" y="-1645920"/>
            <a:ext cx="6126480" cy="6126480"/>
          </a:xfrm>
          <a:prstGeom prst="ellipse">
            <a:avLst/>
          </a:prstGeom>
          <a:solidFill>
            <a:srgbClr val="2563EB">
              <a:alpha val="21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lipse 3"/>
          <p:cNvSpPr/>
          <p:nvPr/>
        </p:nvSpPr>
        <p:spPr>
          <a:xfrm>
            <a:off x="9966960" y="4526280"/>
            <a:ext cx="2743200" cy="27432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475488" y="365760"/>
            <a:ext cx="292608" cy="29260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868680" y="356616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200" b="1" i="0" typeface="Aptos">
                <a:solidFill>
                  <a:srgbClr val="FFFFFF"/>
                </a:solidFill>
              </a:rPr>
              <a:t>Mavo Talk</a:t>
            </a:r>
            <a:endParaRPr lang="pt-BR" sz="1200" typeface="Aptos"/>
          </a:p>
        </p:txBody>
      </p:sp>
      <p:sp>
        <p:nvSpPr>
          <p:cNvPr id="6" name="Text 6"/>
          <p:cNvSpPr txBox="1"/>
          <p:nvPr/>
        </p:nvSpPr>
        <p:spPr>
          <a:xfrm>
            <a:off x="9729216" y="39319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r" marL="0" indent="0" spcBef="0" spcAft="0"/>
            <a:r>
              <a:rPr lang="pt-BR" sz="750" b="1" i="0" typeface="Aptos">
                <a:solidFill>
                  <a:srgbClr val="B9C8E3"/>
                </a:solidFill>
              </a:rPr>
              <a:t>CENTRAL DE CONVERSAS</a:t>
            </a:r>
            <a:endParaRPr lang="pt-BR" sz="750" typeface="Aptos"/>
          </a:p>
        </p:txBody>
      </p:sp>
      <p:sp>
        <p:nvSpPr>
          <p:cNvPr id="7" name="Text 7"/>
          <p:cNvSpPr txBox="1"/>
          <p:nvPr/>
        </p:nvSpPr>
        <p:spPr>
          <a:xfrm>
            <a:off x="685800" y="1298448"/>
            <a:ext cx="53949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00" b="1" i="0" typeface="Aptos">
                <a:solidFill>
                  <a:srgbClr val="A9C6FF"/>
                </a:solidFill>
              </a:rPr>
              <a:t>ATENDIMENTO QUE ACOMPANHA O RITMO DO SEU CLIENTE</a:t>
            </a:r>
            <a:endParaRPr lang="pt-BR" sz="800" typeface="Aptos"/>
          </a:p>
        </p:txBody>
      </p:sp>
      <p:sp>
        <p:nvSpPr>
          <p:cNvPr id="8" name="Text 8"/>
          <p:cNvSpPr txBox="1"/>
          <p:nvPr/>
        </p:nvSpPr>
        <p:spPr>
          <a:xfrm>
            <a:off x="667512" y="1746504"/>
            <a:ext cx="548640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3000" b="1" i="0" typeface="Aptos">
                <a:solidFill>
                  <a:srgbClr val="FFFFFF"/>
                </a:solidFill>
              </a:rPr>
              <a:t>Converse melhor.
Resolva mais rápido.</a:t>
            </a:r>
            <a:endParaRPr lang="pt-BR" sz="3000" typeface="Aptos"/>
          </a:p>
        </p:txBody>
      </p:sp>
      <p:sp>
        <p:nvSpPr>
          <p:cNvPr id="9" name="Text 9"/>
          <p:cNvSpPr txBox="1"/>
          <p:nvPr/>
        </p:nvSpPr>
        <p:spPr>
          <a:xfrm>
            <a:off x="694944" y="3355848"/>
            <a:ext cx="466344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300" b="0" i="0" typeface="Aptos">
                <a:solidFill>
                  <a:srgbClr val="C8D5EA"/>
                </a:solidFill>
              </a:rPr>
              <a:t>A central inteligente para organizar o atendimento no WhatsApp, dar visibilidade à operação e oferecer uma experiência mais ágil ao cliente.</a:t>
            </a:r>
            <a:endParaRPr lang="pt-BR" sz="1300" typeface="Aptos"/>
          </a:p>
        </p:txBody>
      </p:sp>
      <p:sp>
        <p:nvSpPr>
          <p:cNvPr id="10" name="Shape 10"/>
          <p:cNvSpPr/>
          <p:nvPr/>
        </p:nvSpPr>
        <p:spPr>
          <a:xfrm>
            <a:off x="694944" y="4343400"/>
            <a:ext cx="2139696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868680" y="4453128"/>
            <a:ext cx="17830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750" b="1" i="0" typeface="Aptos">
                <a:solidFill>
                  <a:srgbClr val="FFFFFF"/>
                </a:solidFill>
              </a:rPr>
              <a:t>APRESENTAÇÃO COMERCIAL</a:t>
            </a:r>
            <a:endParaRPr lang="pt-BR" sz="750" typeface="Aptos"/>
          </a:p>
        </p:txBody>
      </p:sp>
      <p:sp>
        <p:nvSpPr>
          <p:cNvPr id="12" name="Shape 12"/>
          <p:cNvSpPr/>
          <p:nvPr/>
        </p:nvSpPr>
        <p:spPr>
          <a:xfrm>
            <a:off x="6510528" y="987552"/>
            <a:ext cx="4910328" cy="4224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272AB"/>
            </a:solidFill>
          </a:ln>
        </p:spPr>
        <p:txBody>
          <a:bodyPr/>
          <a:lstStyle/>
          <a:p/>
        </p:txBody>
      </p:sp>
      <p:pic>
        <p:nvPicPr>
          <p:cNvPr id="13" name="Screenshot 13"/>
          <p:cNvPicPr/>
          <p:nvPr/>
        </p:nvPicPr>
        <p:blipFill>
          <a:blip r:embed="rId2"/>
          <a:stretch>
            <a:fillRect/>
          </a:stretch>
        </p:blipFill>
        <p:spPr>
          <a:xfrm>
            <a:off x="6647688" y="1124712"/>
            <a:ext cx="4636008" cy="3950208"/>
          </a:xfrm>
          <a:prstGeom prst="rect">
            <a:avLst/>
          </a:prstGeom>
          <a:ln>
            <a:noFill/>
          </a:ln>
        </p:spPr>
      </p:pic>
      <p:sp>
        <p:nvSpPr>
          <p:cNvPr id="14" name="Shape 14"/>
          <p:cNvSpPr/>
          <p:nvPr/>
        </p:nvSpPr>
        <p:spPr>
          <a:xfrm>
            <a:off x="6647688" y="1124712"/>
            <a:ext cx="4636008" cy="219456"/>
          </a:xfrm>
          <a:prstGeom prst="rect">
            <a:avLst/>
          </a:prstGeom>
          <a:solidFill>
            <a:srgbClr val="081B33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6812280" y="5468112"/>
            <a:ext cx="41605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900" b="1" i="0" typeface="Aptos">
                <a:solidFill>
                  <a:srgbClr val="B9C8E3"/>
                </a:solidFill>
              </a:rPr>
              <a:t>Mavo Talk · Central de conversas</a:t>
            </a:r>
            <a:endParaRPr lang="pt-BR" sz="900" typeface="Aptos"/>
          </a:p>
        </p:txBody>
      </p:sp>
      <p:sp>
        <p:nvSpPr>
          <p:cNvPr id="16" name="Shape 16"/>
          <p:cNvSpPr/>
          <p:nvPr/>
        </p:nvSpPr>
        <p:spPr>
          <a:xfrm>
            <a:off x="475488" y="6473952"/>
            <a:ext cx="11228832" cy="13716"/>
          </a:xfrm>
          <a:prstGeom prst="rect">
            <a:avLst/>
          </a:prstGeom>
          <a:solidFill>
            <a:srgbClr val="36507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484632" y="6565392"/>
            <a:ext cx="38404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650" b="1" i="0" typeface="Aptos">
                <a:solidFill>
                  <a:srgbClr val="9BB1D2"/>
                </a:solidFill>
              </a:rPr>
              <a:t>MAVO TALK  •  APRESENTAÇÃO COMERCIAL</a:t>
            </a:r>
            <a:endParaRPr lang="pt-BR" sz="650" typeface="Aptos"/>
          </a:p>
        </p:txBody>
      </p:sp>
      <p:sp>
        <p:nvSpPr>
          <p:cNvPr id="18" name="Text 18"/>
          <p:cNvSpPr txBox="1"/>
          <p:nvPr/>
        </p:nvSpPr>
        <p:spPr>
          <a:xfrm>
            <a:off x="11119104" y="6547104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r" marL="0" indent="0" spcBef="0" spcAft="0"/>
            <a:r>
              <a:rPr lang="pt-BR" sz="750" b="1" i="0" typeface="Aptos">
                <a:solidFill>
                  <a:srgbClr val="22D3EE"/>
                </a:solidFill>
              </a:rPr>
              <a:t>01</a:t>
            </a:r>
            <a:endParaRPr lang="pt-BR" sz="750" typeface="Apto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75488" y="365760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868680" y="356616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200" b="1" i="0" typeface="Aptos">
                <a:solidFill>
                  <a:srgbClr val="12243A"/>
                </a:solidFill>
              </a:rPr>
              <a:t>Mavo Talk</a:t>
            </a:r>
            <a:endParaRPr lang="pt-BR" sz="1200" typeface="Aptos"/>
          </a:p>
        </p:txBody>
      </p:sp>
      <p:sp>
        <p:nvSpPr>
          <p:cNvPr id="4" name="Text 4"/>
          <p:cNvSpPr txBox="1"/>
          <p:nvPr/>
        </p:nvSpPr>
        <p:spPr>
          <a:xfrm>
            <a:off x="9729216" y="39319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r" marL="0" indent="0" spcBef="0" spcAft="0"/>
            <a:r>
              <a:rPr lang="pt-BR" sz="750" b="1" i="0" typeface="Aptos">
                <a:solidFill>
                  <a:srgbClr val="64748B"/>
                </a:solidFill>
              </a:rPr>
              <a:t>CENTRAL DE CONVERSAS</a:t>
            </a:r>
            <a:endParaRPr lang="pt-BR" sz="750" typeface="Aptos"/>
          </a:p>
        </p:txBody>
      </p:sp>
      <p:sp>
        <p:nvSpPr>
          <p:cNvPr id="5" name="Shape 5"/>
          <p:cNvSpPr/>
          <p:nvPr/>
        </p:nvSpPr>
        <p:spPr>
          <a:xfrm>
            <a:off x="475488" y="6473952"/>
            <a:ext cx="112288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484632" y="6565392"/>
            <a:ext cx="38404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650" b="1" i="0" typeface="Aptos">
                <a:solidFill>
                  <a:srgbClr val="94A3B8"/>
                </a:solidFill>
              </a:rPr>
              <a:t>MAVO TALK  •  APRESENTAÇÃO COMERCIAL</a:t>
            </a:r>
            <a:endParaRPr lang="pt-BR" sz="650" typeface="Aptos"/>
          </a:p>
        </p:txBody>
      </p:sp>
      <p:sp>
        <p:nvSpPr>
          <p:cNvPr id="7" name="Text 7"/>
          <p:cNvSpPr txBox="1"/>
          <p:nvPr/>
        </p:nvSpPr>
        <p:spPr>
          <a:xfrm>
            <a:off x="11119104" y="6547104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r" marL="0" indent="0" spcBef="0" spcAft="0"/>
            <a:r>
              <a:rPr lang="pt-BR" sz="750" b="1" i="0" typeface="Aptos">
                <a:solidFill>
                  <a:srgbClr val="2563EB"/>
                </a:solidFill>
              </a:rPr>
              <a:t>02</a:t>
            </a:r>
            <a:endParaRPr lang="pt-BR" sz="750" typeface="Aptos"/>
          </a:p>
        </p:txBody>
      </p:sp>
      <p:sp>
        <p:nvSpPr>
          <p:cNvPr id="8" name="Text 8"/>
          <p:cNvSpPr txBox="1"/>
          <p:nvPr/>
        </p:nvSpPr>
        <p:spPr>
          <a:xfrm>
            <a:off x="658368" y="914400"/>
            <a:ext cx="6309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00" b="1" i="0" typeface="Aptos">
                <a:solidFill>
                  <a:srgbClr val="2563EB"/>
                </a:solidFill>
              </a:rPr>
              <a:t>O DESAFIO</a:t>
            </a:r>
            <a:endParaRPr lang="pt-BR" sz="800" typeface="Aptos"/>
          </a:p>
        </p:txBody>
      </p:sp>
      <p:sp>
        <p:nvSpPr>
          <p:cNvPr id="9" name="Text 9"/>
          <p:cNvSpPr txBox="1"/>
          <p:nvPr/>
        </p:nvSpPr>
        <p:spPr>
          <a:xfrm>
            <a:off x="658368" y="1261872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2800" b="1" i="0" typeface="Aptos">
                <a:solidFill>
                  <a:srgbClr val="081B33"/>
                </a:solidFill>
              </a:rPr>
              <a:t>Quando o atendimento perde ritmo,
o cliente percebe.</a:t>
            </a:r>
            <a:endParaRPr lang="pt-BR" sz="2800" typeface="Aptos"/>
          </a:p>
        </p:txBody>
      </p:sp>
      <p:sp>
        <p:nvSpPr>
          <p:cNvPr id="10" name="Text 10"/>
          <p:cNvSpPr txBox="1"/>
          <p:nvPr/>
        </p:nvSpPr>
        <p:spPr>
          <a:xfrm>
            <a:off x="676656" y="2249424"/>
            <a:ext cx="59436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300" b="0" i="0" typeface="Aptos">
                <a:solidFill>
                  <a:srgbClr val="64748B"/>
                </a:solidFill>
              </a:rPr>
              <a:t>Mensagens sem contexto, filas invisíveis e respostas dependentes de memória criam fricção para quem compra e para quem atende.</a:t>
            </a:r>
            <a:endParaRPr lang="pt-BR" sz="1300" typeface="Aptos"/>
          </a:p>
        </p:txBody>
      </p:sp>
      <p:sp>
        <p:nvSpPr>
          <p:cNvPr id="11" name="Shape 11"/>
          <p:cNvSpPr/>
          <p:nvPr/>
        </p:nvSpPr>
        <p:spPr>
          <a:xfrm>
            <a:off x="685800" y="3310128"/>
            <a:ext cx="3401568" cy="16276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685800" y="3310128"/>
            <a:ext cx="64008" cy="162763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978408" y="3547872"/>
            <a:ext cx="28986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700" b="1" i="0" typeface="Aptos">
                <a:solidFill>
                  <a:srgbClr val="E11D48"/>
                </a:solidFill>
              </a:rPr>
              <a:t>CONVERSAS DISPERSAS</a:t>
            </a:r>
            <a:endParaRPr lang="pt-BR" sz="700" typeface="Aptos"/>
          </a:p>
        </p:txBody>
      </p:sp>
      <p:sp>
        <p:nvSpPr>
          <p:cNvPr id="14" name="Text 14"/>
          <p:cNvSpPr txBox="1"/>
          <p:nvPr/>
        </p:nvSpPr>
        <p:spPr>
          <a:xfrm>
            <a:off x="978408" y="3822192"/>
            <a:ext cx="289864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400" b="1" i="0" typeface="Aptos">
                <a:solidFill>
                  <a:srgbClr val="12243A"/>
                </a:solidFill>
              </a:rPr>
              <a:t>Visão fragmentada</a:t>
            </a:r>
            <a:endParaRPr lang="pt-BR" sz="1400" typeface="Aptos"/>
          </a:p>
        </p:txBody>
      </p:sp>
      <p:sp>
        <p:nvSpPr>
          <p:cNvPr id="15" name="Text 15"/>
          <p:cNvSpPr txBox="1"/>
          <p:nvPr/>
        </p:nvSpPr>
        <p:spPr>
          <a:xfrm>
            <a:off x="978408" y="4343400"/>
            <a:ext cx="2898648" cy="3931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950" b="0" i="0" typeface="Aptos">
                <a:solidFill>
                  <a:srgbClr val="64748B"/>
                </a:solidFill>
              </a:rPr>
              <a:t>Atendimentos em múltiplas telas, sem uma fila única e sem contexto contínuo.</a:t>
            </a:r>
            <a:endParaRPr lang="pt-BR" sz="950" typeface="Aptos"/>
          </a:p>
        </p:txBody>
      </p:sp>
      <p:sp>
        <p:nvSpPr>
          <p:cNvPr id="16" name="Shape 16"/>
          <p:cNvSpPr/>
          <p:nvPr/>
        </p:nvSpPr>
        <p:spPr>
          <a:xfrm>
            <a:off x="4471416" y="3310128"/>
            <a:ext cx="3401568" cy="16276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4471416" y="3310128"/>
            <a:ext cx="64008" cy="162763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4764024" y="3547872"/>
            <a:ext cx="28986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700" b="1" i="0" typeface="Aptos">
                <a:solidFill>
                  <a:srgbClr val="F59E0B"/>
                </a:solidFill>
              </a:rPr>
              <a:t>PRIORIZAÇÃO</a:t>
            </a:r>
            <a:endParaRPr lang="pt-BR" sz="700" typeface="Aptos"/>
          </a:p>
        </p:txBody>
      </p:sp>
      <p:sp>
        <p:nvSpPr>
          <p:cNvPr id="19" name="Text 19"/>
          <p:cNvSpPr txBox="1"/>
          <p:nvPr/>
        </p:nvSpPr>
        <p:spPr>
          <a:xfrm>
            <a:off x="4764024" y="3822192"/>
            <a:ext cx="289864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400" b="1" i="0" typeface="Aptos">
                <a:solidFill>
                  <a:srgbClr val="12243A"/>
                </a:solidFill>
              </a:rPr>
              <a:t>O urgente se mistura ao comum</a:t>
            </a:r>
            <a:endParaRPr lang="pt-BR" sz="1400" typeface="Aptos"/>
          </a:p>
        </p:txBody>
      </p:sp>
      <p:sp>
        <p:nvSpPr>
          <p:cNvPr id="20" name="Text 20"/>
          <p:cNvSpPr txBox="1"/>
          <p:nvPr/>
        </p:nvSpPr>
        <p:spPr>
          <a:xfrm>
            <a:off x="4764024" y="4343400"/>
            <a:ext cx="2898648" cy="3931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950" b="0" i="0" typeface="Aptos">
                <a:solidFill>
                  <a:srgbClr val="64748B"/>
                </a:solidFill>
              </a:rPr>
              <a:t>Sem organização, demandas críticas competem com dúvidas simples e o tempo de resposta se perde.</a:t>
            </a:r>
            <a:endParaRPr lang="pt-BR" sz="950" typeface="Aptos"/>
          </a:p>
        </p:txBody>
      </p:sp>
      <p:sp>
        <p:nvSpPr>
          <p:cNvPr id="21" name="Shape 21"/>
          <p:cNvSpPr/>
          <p:nvPr/>
        </p:nvSpPr>
        <p:spPr>
          <a:xfrm>
            <a:off x="8257032" y="3310128"/>
            <a:ext cx="3401568" cy="162763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8257032" y="3310128"/>
            <a:ext cx="64008" cy="16276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8549640" y="3547872"/>
            <a:ext cx="2898648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700" b="1" i="0" typeface="Aptos">
                <a:solidFill>
                  <a:srgbClr val="2563EB"/>
                </a:solidFill>
              </a:rPr>
              <a:t>GESTÃO</a:t>
            </a:r>
            <a:endParaRPr lang="pt-BR" sz="700" typeface="Aptos"/>
          </a:p>
        </p:txBody>
      </p:sp>
      <p:sp>
        <p:nvSpPr>
          <p:cNvPr id="24" name="Text 24"/>
          <p:cNvSpPr txBox="1"/>
          <p:nvPr/>
        </p:nvSpPr>
        <p:spPr>
          <a:xfrm>
            <a:off x="8549640" y="3822192"/>
            <a:ext cx="289864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400" b="1" i="0" typeface="Aptos">
                <a:solidFill>
                  <a:srgbClr val="12243A"/>
                </a:solidFill>
              </a:rPr>
              <a:t>Pouca clareza sobre a operação</a:t>
            </a:r>
            <a:endParaRPr lang="pt-BR" sz="1400" typeface="Aptos"/>
          </a:p>
        </p:txBody>
      </p:sp>
      <p:sp>
        <p:nvSpPr>
          <p:cNvPr id="25" name="Text 25"/>
          <p:cNvSpPr txBox="1"/>
          <p:nvPr/>
        </p:nvSpPr>
        <p:spPr>
          <a:xfrm>
            <a:off x="8549640" y="4343400"/>
            <a:ext cx="2898648" cy="3931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950" b="0" i="0" typeface="Aptos">
                <a:solidFill>
                  <a:srgbClr val="64748B"/>
                </a:solidFill>
              </a:rPr>
              <a:t>É difícil acompanhar volume, desempenho e gargalos enquanto a equipe está atendendo.</a:t>
            </a:r>
            <a:endParaRPr lang="pt-BR" sz="950" typeface="Aptos"/>
          </a:p>
        </p:txBody>
      </p:sp>
      <p:sp>
        <p:nvSpPr>
          <p:cNvPr id="26" name="Shape 26"/>
          <p:cNvSpPr/>
          <p:nvPr/>
        </p:nvSpPr>
        <p:spPr>
          <a:xfrm>
            <a:off x="685800" y="5422392"/>
            <a:ext cx="10835640" cy="576072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941832" y="5605272"/>
            <a:ext cx="10241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1200" b="1" i="0" typeface="Aptos">
                <a:solidFill>
                  <a:srgbClr val="081B33"/>
                </a:solidFill>
              </a:rPr>
              <a:t>O Mavo Talk transforma cada mensagem em uma conversa organizada, acompanhável e pronta para ser resolvida.</a:t>
            </a:r>
            <a:endParaRPr lang="pt-BR" sz="1200" typeface="Apto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75488" y="365760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868680" y="356616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200" b="1" i="0" typeface="Aptos">
                <a:solidFill>
                  <a:srgbClr val="12243A"/>
                </a:solidFill>
              </a:rPr>
              <a:t>Mavo Talk</a:t>
            </a:r>
            <a:endParaRPr lang="pt-BR" sz="1200" typeface="Aptos"/>
          </a:p>
        </p:txBody>
      </p:sp>
      <p:sp>
        <p:nvSpPr>
          <p:cNvPr id="4" name="Text 4"/>
          <p:cNvSpPr txBox="1"/>
          <p:nvPr/>
        </p:nvSpPr>
        <p:spPr>
          <a:xfrm>
            <a:off x="9729216" y="39319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r" marL="0" indent="0" spcBef="0" spcAft="0"/>
            <a:r>
              <a:rPr lang="pt-BR" sz="750" b="1" i="0" typeface="Aptos">
                <a:solidFill>
                  <a:srgbClr val="64748B"/>
                </a:solidFill>
              </a:rPr>
              <a:t>CENTRAL DE CONVERSAS</a:t>
            </a:r>
            <a:endParaRPr lang="pt-BR" sz="750" typeface="Aptos"/>
          </a:p>
        </p:txBody>
      </p:sp>
      <p:sp>
        <p:nvSpPr>
          <p:cNvPr id="5" name="Shape 5"/>
          <p:cNvSpPr/>
          <p:nvPr/>
        </p:nvSpPr>
        <p:spPr>
          <a:xfrm>
            <a:off x="475488" y="6473952"/>
            <a:ext cx="112288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484632" y="6565392"/>
            <a:ext cx="38404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650" b="1" i="0" typeface="Aptos">
                <a:solidFill>
                  <a:srgbClr val="94A3B8"/>
                </a:solidFill>
              </a:rPr>
              <a:t>MAVO TALK  •  APRESENTAÇÃO COMERCIAL</a:t>
            </a:r>
            <a:endParaRPr lang="pt-BR" sz="650" typeface="Aptos"/>
          </a:p>
        </p:txBody>
      </p:sp>
      <p:sp>
        <p:nvSpPr>
          <p:cNvPr id="7" name="Text 7"/>
          <p:cNvSpPr txBox="1"/>
          <p:nvPr/>
        </p:nvSpPr>
        <p:spPr>
          <a:xfrm>
            <a:off x="11119104" y="6547104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r" marL="0" indent="0" spcBef="0" spcAft="0"/>
            <a:r>
              <a:rPr lang="pt-BR" sz="750" b="1" i="0" typeface="Aptos">
                <a:solidFill>
                  <a:srgbClr val="2563EB"/>
                </a:solidFill>
              </a:rPr>
              <a:t>03</a:t>
            </a:r>
            <a:endParaRPr lang="pt-BR" sz="750" typeface="Aptos"/>
          </a:p>
        </p:txBody>
      </p:sp>
      <p:sp>
        <p:nvSpPr>
          <p:cNvPr id="8" name="Text 8"/>
          <p:cNvSpPr txBox="1"/>
          <p:nvPr/>
        </p:nvSpPr>
        <p:spPr>
          <a:xfrm>
            <a:off x="658368" y="914400"/>
            <a:ext cx="6309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00" b="1" i="0" typeface="Aptos">
                <a:solidFill>
                  <a:srgbClr val="2563EB"/>
                </a:solidFill>
              </a:rPr>
              <a:t>A SOLUÇÃO</a:t>
            </a:r>
            <a:endParaRPr lang="pt-BR" sz="800" typeface="Aptos"/>
          </a:p>
        </p:txBody>
      </p:sp>
      <p:sp>
        <p:nvSpPr>
          <p:cNvPr id="9" name="Text 9"/>
          <p:cNvSpPr txBox="1"/>
          <p:nvPr/>
        </p:nvSpPr>
        <p:spPr>
          <a:xfrm>
            <a:off x="658368" y="1261872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2800" b="1" i="0" typeface="Aptos">
                <a:solidFill>
                  <a:srgbClr val="081B33"/>
                </a:solidFill>
              </a:rPr>
              <a:t>Uma central de conversas feita
para a operação acontecer.</a:t>
            </a:r>
            <a:endParaRPr lang="pt-BR" sz="2800" typeface="Aptos"/>
          </a:p>
        </p:txBody>
      </p:sp>
      <p:sp>
        <p:nvSpPr>
          <p:cNvPr id="10" name="Text 10"/>
          <p:cNvSpPr txBox="1"/>
          <p:nvPr/>
        </p:nvSpPr>
        <p:spPr>
          <a:xfrm>
            <a:off x="676656" y="2249424"/>
            <a:ext cx="59436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300" b="0" i="0" typeface="Aptos">
                <a:solidFill>
                  <a:srgbClr val="64748B"/>
                </a:solidFill>
              </a:rPr>
              <a:t>O Mavo Talk reúne atendimento, automação e gestão em um único ambiente conectado ao WhatsApp.</a:t>
            </a:r>
            <a:endParaRPr lang="pt-BR" sz="1300" typeface="Aptos"/>
          </a:p>
        </p:txBody>
      </p:sp>
      <p:sp>
        <p:nvSpPr>
          <p:cNvPr id="11" name="Shape 11"/>
          <p:cNvSpPr/>
          <p:nvPr/>
        </p:nvSpPr>
        <p:spPr>
          <a:xfrm>
            <a:off x="685800" y="3108960"/>
            <a:ext cx="5212080" cy="1115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905256" y="3328416"/>
            <a:ext cx="438912" cy="438912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905256" y="3447288"/>
            <a:ext cx="438912" cy="1280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700" b="1" i="0" typeface="Aptos">
                <a:solidFill>
                  <a:srgbClr val="2563EB"/>
                </a:solidFill>
              </a:rPr>
              <a:t>01</a:t>
            </a:r>
            <a:endParaRPr lang="pt-BR" sz="700" typeface="Aptos"/>
          </a:p>
        </p:txBody>
      </p:sp>
      <p:sp>
        <p:nvSpPr>
          <p:cNvPr id="14" name="Text 14"/>
          <p:cNvSpPr txBox="1"/>
          <p:nvPr/>
        </p:nvSpPr>
        <p:spPr>
          <a:xfrm>
            <a:off x="1545336" y="3319272"/>
            <a:ext cx="36118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200" b="1" i="0" typeface="Aptos">
                <a:solidFill>
                  <a:srgbClr val="12243A"/>
                </a:solidFill>
              </a:rPr>
              <a:t>Inbox unificado</a:t>
            </a:r>
            <a:endParaRPr lang="pt-BR" sz="1200" typeface="Aptos"/>
          </a:p>
        </p:txBody>
      </p:sp>
      <p:sp>
        <p:nvSpPr>
          <p:cNvPr id="15" name="Text 15"/>
          <p:cNvSpPr txBox="1"/>
          <p:nvPr/>
        </p:nvSpPr>
        <p:spPr>
          <a:xfrm>
            <a:off x="1545336" y="3648456"/>
            <a:ext cx="398678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80" b="0" i="0" typeface="Aptos">
                <a:solidFill>
                  <a:srgbClr val="64748B"/>
                </a:solidFill>
              </a:rPr>
              <a:t>Conversas, histórico, responsável e contexto em uma visão operacional única.</a:t>
            </a:r>
            <a:endParaRPr lang="pt-BR" sz="880" typeface="Aptos"/>
          </a:p>
        </p:txBody>
      </p:sp>
      <p:sp>
        <p:nvSpPr>
          <p:cNvPr id="16" name="Shape 16"/>
          <p:cNvSpPr/>
          <p:nvPr/>
        </p:nvSpPr>
        <p:spPr>
          <a:xfrm>
            <a:off x="685800" y="4599432"/>
            <a:ext cx="5212080" cy="1115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905256" y="4818888"/>
            <a:ext cx="438912" cy="438912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905256" y="4937760"/>
            <a:ext cx="438912" cy="1280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700" b="1" i="0" typeface="Aptos">
                <a:solidFill>
                  <a:srgbClr val="2563EB"/>
                </a:solidFill>
              </a:rPr>
              <a:t>02</a:t>
            </a:r>
            <a:endParaRPr lang="pt-BR" sz="700" typeface="Aptos"/>
          </a:p>
        </p:txBody>
      </p:sp>
      <p:sp>
        <p:nvSpPr>
          <p:cNvPr id="19" name="Text 19"/>
          <p:cNvSpPr txBox="1"/>
          <p:nvPr/>
        </p:nvSpPr>
        <p:spPr>
          <a:xfrm>
            <a:off x="1545336" y="4809744"/>
            <a:ext cx="36118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200" b="1" i="0" typeface="Aptos">
                <a:solidFill>
                  <a:srgbClr val="12243A"/>
                </a:solidFill>
              </a:rPr>
              <a:t>Filas inteligentes</a:t>
            </a:r>
            <a:endParaRPr lang="pt-BR" sz="1200" typeface="Aptos"/>
          </a:p>
        </p:txBody>
      </p:sp>
      <p:sp>
        <p:nvSpPr>
          <p:cNvPr id="20" name="Text 20"/>
          <p:cNvSpPr txBox="1"/>
          <p:nvPr/>
        </p:nvSpPr>
        <p:spPr>
          <a:xfrm>
            <a:off x="1545336" y="5138928"/>
            <a:ext cx="398678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80" b="0" i="0" typeface="Aptos">
                <a:solidFill>
                  <a:srgbClr val="64748B"/>
                </a:solidFill>
              </a:rPr>
              <a:t>Triagem, prioridade e SLA para direcionar cada demanda ao fluxo certo.</a:t>
            </a:r>
            <a:endParaRPr lang="pt-BR" sz="880" typeface="Aptos"/>
          </a:p>
        </p:txBody>
      </p:sp>
      <p:sp>
        <p:nvSpPr>
          <p:cNvPr id="21" name="Shape 21"/>
          <p:cNvSpPr/>
          <p:nvPr/>
        </p:nvSpPr>
        <p:spPr>
          <a:xfrm>
            <a:off x="6263640" y="3108960"/>
            <a:ext cx="5212080" cy="1115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6483096" y="3328416"/>
            <a:ext cx="438912" cy="438912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6483096" y="3447288"/>
            <a:ext cx="438912" cy="1280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700" b="1" i="0" typeface="Aptos">
                <a:solidFill>
                  <a:srgbClr val="2563EB"/>
                </a:solidFill>
              </a:rPr>
              <a:t>03</a:t>
            </a:r>
            <a:endParaRPr lang="pt-BR" sz="700" typeface="Aptos"/>
          </a:p>
        </p:txBody>
      </p:sp>
      <p:sp>
        <p:nvSpPr>
          <p:cNvPr id="24" name="Text 24"/>
          <p:cNvSpPr txBox="1"/>
          <p:nvPr/>
        </p:nvSpPr>
        <p:spPr>
          <a:xfrm>
            <a:off x="7123176" y="3319272"/>
            <a:ext cx="36118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200" b="1" i="0" typeface="Aptos">
                <a:solidFill>
                  <a:srgbClr val="12243A"/>
                </a:solidFill>
              </a:rPr>
              <a:t>Automação com controle</a:t>
            </a:r>
            <a:endParaRPr lang="pt-BR" sz="1200" typeface="Aptos"/>
          </a:p>
        </p:txBody>
      </p:sp>
      <p:sp>
        <p:nvSpPr>
          <p:cNvPr id="25" name="Text 25"/>
          <p:cNvSpPr txBox="1"/>
          <p:nvPr/>
        </p:nvSpPr>
        <p:spPr>
          <a:xfrm>
            <a:off x="7123176" y="3648456"/>
            <a:ext cx="398678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80" b="0" i="0" typeface="Aptos">
                <a:solidFill>
                  <a:srgbClr val="64748B"/>
                </a:solidFill>
              </a:rPr>
              <a:t>Bot, IA e respostas rápidas aceleram o atendimento sem tirar a equipe da decisão.</a:t>
            </a:r>
            <a:endParaRPr lang="pt-BR" sz="880" typeface="Aptos"/>
          </a:p>
        </p:txBody>
      </p:sp>
      <p:sp>
        <p:nvSpPr>
          <p:cNvPr id="26" name="Shape 26"/>
          <p:cNvSpPr/>
          <p:nvPr/>
        </p:nvSpPr>
        <p:spPr>
          <a:xfrm>
            <a:off x="6263640" y="4599432"/>
            <a:ext cx="5212080" cy="1115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27" name="Shape 27"/>
          <p:cNvSpPr/>
          <p:nvPr/>
        </p:nvSpPr>
        <p:spPr>
          <a:xfrm>
            <a:off x="6483096" y="4818888"/>
            <a:ext cx="438912" cy="438912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ext 28"/>
          <p:cNvSpPr txBox="1"/>
          <p:nvPr/>
        </p:nvSpPr>
        <p:spPr>
          <a:xfrm>
            <a:off x="6483096" y="4937760"/>
            <a:ext cx="438912" cy="1280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700" b="1" i="0" typeface="Aptos">
                <a:solidFill>
                  <a:srgbClr val="2563EB"/>
                </a:solidFill>
              </a:rPr>
              <a:t>04</a:t>
            </a:r>
            <a:endParaRPr lang="pt-BR" sz="700" typeface="Aptos"/>
          </a:p>
        </p:txBody>
      </p:sp>
      <p:sp>
        <p:nvSpPr>
          <p:cNvPr id="29" name="Text 29"/>
          <p:cNvSpPr txBox="1"/>
          <p:nvPr/>
        </p:nvSpPr>
        <p:spPr>
          <a:xfrm>
            <a:off x="7123176" y="4809744"/>
            <a:ext cx="36118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200" b="1" i="0" typeface="Aptos">
                <a:solidFill>
                  <a:srgbClr val="12243A"/>
                </a:solidFill>
              </a:rPr>
              <a:t>Visão de gestão</a:t>
            </a:r>
            <a:endParaRPr lang="pt-BR" sz="1200" typeface="Aptos"/>
          </a:p>
        </p:txBody>
      </p:sp>
      <p:sp>
        <p:nvSpPr>
          <p:cNvPr id="30" name="Text 30"/>
          <p:cNvSpPr txBox="1"/>
          <p:nvPr/>
        </p:nvSpPr>
        <p:spPr>
          <a:xfrm>
            <a:off x="7123176" y="5138928"/>
            <a:ext cx="3986784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80" b="0" i="0" typeface="Aptos">
                <a:solidFill>
                  <a:srgbClr val="64748B"/>
                </a:solidFill>
              </a:rPr>
              <a:t>Indicadores, auditoria e administração para acompanhar a operação com clareza.</a:t>
            </a:r>
            <a:endParaRPr lang="pt-BR" sz="880" typeface="Apto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75488" y="365760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868680" y="356616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200" b="1" i="0" typeface="Aptos">
                <a:solidFill>
                  <a:srgbClr val="12243A"/>
                </a:solidFill>
              </a:rPr>
              <a:t>Mavo Talk</a:t>
            </a:r>
            <a:endParaRPr lang="pt-BR" sz="1200" typeface="Aptos"/>
          </a:p>
        </p:txBody>
      </p:sp>
      <p:sp>
        <p:nvSpPr>
          <p:cNvPr id="4" name="Text 4"/>
          <p:cNvSpPr txBox="1"/>
          <p:nvPr/>
        </p:nvSpPr>
        <p:spPr>
          <a:xfrm>
            <a:off x="9729216" y="39319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r" marL="0" indent="0" spcBef="0" spcAft="0"/>
            <a:r>
              <a:rPr lang="pt-BR" sz="750" b="1" i="0" typeface="Aptos">
                <a:solidFill>
                  <a:srgbClr val="64748B"/>
                </a:solidFill>
              </a:rPr>
              <a:t>CENTRAL DE CONVERSAS</a:t>
            </a:r>
            <a:endParaRPr lang="pt-BR" sz="750" typeface="Aptos"/>
          </a:p>
        </p:txBody>
      </p:sp>
      <p:sp>
        <p:nvSpPr>
          <p:cNvPr id="5" name="Shape 5"/>
          <p:cNvSpPr/>
          <p:nvPr/>
        </p:nvSpPr>
        <p:spPr>
          <a:xfrm>
            <a:off x="475488" y="6473952"/>
            <a:ext cx="112288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484632" y="6565392"/>
            <a:ext cx="38404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650" b="1" i="0" typeface="Aptos">
                <a:solidFill>
                  <a:srgbClr val="94A3B8"/>
                </a:solidFill>
              </a:rPr>
              <a:t>MAVO TALK  •  APRESENTAÇÃO COMERCIAL</a:t>
            </a:r>
            <a:endParaRPr lang="pt-BR" sz="650" typeface="Aptos"/>
          </a:p>
        </p:txBody>
      </p:sp>
      <p:sp>
        <p:nvSpPr>
          <p:cNvPr id="7" name="Text 7"/>
          <p:cNvSpPr txBox="1"/>
          <p:nvPr/>
        </p:nvSpPr>
        <p:spPr>
          <a:xfrm>
            <a:off x="11119104" y="6547104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r" marL="0" indent="0" spcBef="0" spcAft="0"/>
            <a:r>
              <a:rPr lang="pt-BR" sz="750" b="1" i="0" typeface="Aptos">
                <a:solidFill>
                  <a:srgbClr val="2563EB"/>
                </a:solidFill>
              </a:rPr>
              <a:t>04</a:t>
            </a:r>
            <a:endParaRPr lang="pt-BR" sz="750" typeface="Aptos"/>
          </a:p>
        </p:txBody>
      </p:sp>
      <p:sp>
        <p:nvSpPr>
          <p:cNvPr id="8" name="Text 8"/>
          <p:cNvSpPr txBox="1"/>
          <p:nvPr/>
        </p:nvSpPr>
        <p:spPr>
          <a:xfrm>
            <a:off x="658368" y="914400"/>
            <a:ext cx="6309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00" b="1" i="0" typeface="Aptos">
                <a:solidFill>
                  <a:srgbClr val="2563EB"/>
                </a:solidFill>
              </a:rPr>
              <a:t>IMPACTO PRÁTICO</a:t>
            </a:r>
            <a:endParaRPr lang="pt-BR" sz="800" typeface="Aptos"/>
          </a:p>
        </p:txBody>
      </p:sp>
      <p:sp>
        <p:nvSpPr>
          <p:cNvPr id="9" name="Text 9"/>
          <p:cNvSpPr txBox="1"/>
          <p:nvPr/>
        </p:nvSpPr>
        <p:spPr>
          <a:xfrm>
            <a:off x="658368" y="1261872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2800" b="1" i="0" typeface="Aptos">
                <a:solidFill>
                  <a:srgbClr val="081B33"/>
                </a:solidFill>
              </a:rPr>
              <a:t>Dores reais. Respostas estruturadas.</a:t>
            </a:r>
            <a:endParaRPr lang="pt-BR" sz="2800" typeface="Aptos"/>
          </a:p>
        </p:txBody>
      </p:sp>
      <p:sp>
        <p:nvSpPr>
          <p:cNvPr id="10" name="Text 10"/>
          <p:cNvSpPr txBox="1"/>
          <p:nvPr/>
        </p:nvSpPr>
        <p:spPr>
          <a:xfrm>
            <a:off x="676656" y="2249424"/>
            <a:ext cx="59436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300" b="0" i="0" typeface="Aptos">
                <a:solidFill>
                  <a:srgbClr val="64748B"/>
                </a:solidFill>
              </a:rPr>
              <a:t>O produto foi desenhado para reduzir atrito na jornada do cliente e devolver controle para a equipe.</a:t>
            </a:r>
            <a:endParaRPr lang="pt-BR" sz="1300" typeface="Aptos"/>
          </a:p>
        </p:txBody>
      </p:sp>
      <p:sp>
        <p:nvSpPr>
          <p:cNvPr id="11" name="Text 11"/>
          <p:cNvSpPr txBox="1"/>
          <p:nvPr/>
        </p:nvSpPr>
        <p:spPr>
          <a:xfrm>
            <a:off x="804672" y="2898648"/>
            <a:ext cx="32461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700" b="1" i="0" typeface="Aptos">
                <a:solidFill>
                  <a:srgbClr val="64748B"/>
                </a:solidFill>
              </a:rPr>
              <a:t>CENÁRIO SEM CONTROLE</a:t>
            </a:r>
            <a:endParaRPr lang="pt-BR" sz="700" typeface="Aptos"/>
          </a:p>
        </p:txBody>
      </p:sp>
      <p:sp>
        <p:nvSpPr>
          <p:cNvPr id="12" name="Text 12"/>
          <p:cNvSpPr txBox="1"/>
          <p:nvPr/>
        </p:nvSpPr>
        <p:spPr>
          <a:xfrm>
            <a:off x="6245352" y="2898648"/>
            <a:ext cx="3794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700" b="1" i="0" typeface="Aptos">
                <a:solidFill>
                  <a:srgbClr val="2563EB"/>
                </a:solidFill>
              </a:rPr>
              <a:t>COM O MAVO TALK</a:t>
            </a:r>
            <a:endParaRPr lang="pt-BR" sz="700" typeface="Aptos"/>
          </a:p>
        </p:txBody>
      </p:sp>
      <p:sp>
        <p:nvSpPr>
          <p:cNvPr id="13" name="Shape 13"/>
          <p:cNvSpPr/>
          <p:nvPr/>
        </p:nvSpPr>
        <p:spPr>
          <a:xfrm>
            <a:off x="685800" y="3227832"/>
            <a:ext cx="4892040" cy="475488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932688" y="3374136"/>
            <a:ext cx="4352544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920" b="1" i="0" typeface="Aptos">
                <a:solidFill>
                  <a:srgbClr val="1E293B"/>
                </a:solidFill>
              </a:rPr>
              <a:t>Cliente repete informações</a:t>
            </a:r>
            <a:endParaRPr lang="pt-BR" sz="920" typeface="Aptos"/>
          </a:p>
        </p:txBody>
      </p:sp>
      <p:sp>
        <p:nvSpPr>
          <p:cNvPr id="15" name="Shape 15"/>
          <p:cNvSpPr/>
          <p:nvPr/>
        </p:nvSpPr>
        <p:spPr>
          <a:xfrm>
            <a:off x="5961888" y="3227832"/>
            <a:ext cx="54406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6153912" y="3364992"/>
            <a:ext cx="192024" cy="19202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6510528" y="3355848"/>
            <a:ext cx="4526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80" b="0" i="0" typeface="Aptos">
                <a:solidFill>
                  <a:srgbClr val="12243A"/>
                </a:solidFill>
              </a:rPr>
              <a:t>Histórico de conversas e contexto disponível para o atendimento.</a:t>
            </a:r>
            <a:endParaRPr lang="pt-BR" sz="880" typeface="Aptos"/>
          </a:p>
        </p:txBody>
      </p:sp>
      <p:sp>
        <p:nvSpPr>
          <p:cNvPr id="18" name="Shape 18"/>
          <p:cNvSpPr/>
          <p:nvPr/>
        </p:nvSpPr>
        <p:spPr>
          <a:xfrm>
            <a:off x="685800" y="3858768"/>
            <a:ext cx="4892040" cy="475488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932688" y="4005072"/>
            <a:ext cx="4352544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920" b="1" i="0" typeface="Aptos">
                <a:solidFill>
                  <a:srgbClr val="1E293B"/>
                </a:solidFill>
              </a:rPr>
              <a:t>Equipe não sabe o que atender primeiro</a:t>
            </a:r>
            <a:endParaRPr lang="pt-BR" sz="920" typeface="Aptos"/>
          </a:p>
        </p:txBody>
      </p:sp>
      <p:sp>
        <p:nvSpPr>
          <p:cNvPr id="20" name="Shape 20"/>
          <p:cNvSpPr/>
          <p:nvPr/>
        </p:nvSpPr>
        <p:spPr>
          <a:xfrm>
            <a:off x="5961888" y="3858768"/>
            <a:ext cx="54406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59E0B"/>
            </a:solidFill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6153912" y="3995928"/>
            <a:ext cx="192024" cy="19202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510528" y="3986784"/>
            <a:ext cx="4526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80" b="0" i="0" typeface="Aptos">
                <a:solidFill>
                  <a:srgbClr val="12243A"/>
                </a:solidFill>
              </a:rPr>
              <a:t>Filas, classificação de demanda e regras de prioridade.</a:t>
            </a:r>
            <a:endParaRPr lang="pt-BR" sz="880" typeface="Aptos"/>
          </a:p>
        </p:txBody>
      </p:sp>
      <p:sp>
        <p:nvSpPr>
          <p:cNvPr id="23" name="Shape 23"/>
          <p:cNvSpPr/>
          <p:nvPr/>
        </p:nvSpPr>
        <p:spPr>
          <a:xfrm>
            <a:off x="685800" y="4489704"/>
            <a:ext cx="4892040" cy="475488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932688" y="4636008"/>
            <a:ext cx="4352544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920" b="1" i="0" typeface="Aptos">
                <a:solidFill>
                  <a:srgbClr val="1E293B"/>
                </a:solidFill>
              </a:rPr>
              <a:t>Solicitações chegam sem padrão</a:t>
            </a:r>
            <a:endParaRPr lang="pt-BR" sz="920" typeface="Aptos"/>
          </a:p>
        </p:txBody>
      </p:sp>
      <p:sp>
        <p:nvSpPr>
          <p:cNvPr id="25" name="Shape 25"/>
          <p:cNvSpPr/>
          <p:nvPr/>
        </p:nvSpPr>
        <p:spPr>
          <a:xfrm>
            <a:off x="5961888" y="4489704"/>
            <a:ext cx="54406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0B981"/>
            </a:solidFill>
          </a:ln>
        </p:spPr>
        <p:txBody>
          <a:bodyPr/>
          <a:lstStyle/>
          <a:p/>
        </p:txBody>
      </p:sp>
      <p:sp>
        <p:nvSpPr>
          <p:cNvPr id="26" name="Shape 26"/>
          <p:cNvSpPr/>
          <p:nvPr/>
        </p:nvSpPr>
        <p:spPr>
          <a:xfrm>
            <a:off x="6153912" y="4626864"/>
            <a:ext cx="192024" cy="19202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6510528" y="4617720"/>
            <a:ext cx="4526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80" b="0" i="0" typeface="Aptos">
                <a:solidFill>
                  <a:srgbClr val="12243A"/>
                </a:solidFill>
              </a:rPr>
              <a:t>Triagem por menu e entendimento de linguagem natural.</a:t>
            </a:r>
            <a:endParaRPr lang="pt-BR" sz="880" typeface="Aptos"/>
          </a:p>
        </p:txBody>
      </p:sp>
      <p:sp>
        <p:nvSpPr>
          <p:cNvPr id="28" name="Shape 28"/>
          <p:cNvSpPr/>
          <p:nvPr/>
        </p:nvSpPr>
        <p:spPr>
          <a:xfrm>
            <a:off x="685800" y="5120640"/>
            <a:ext cx="4892040" cy="475488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932688" y="5266944"/>
            <a:ext cx="4352544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920" b="1" i="0" typeface="Aptos">
                <a:solidFill>
                  <a:srgbClr val="1E293B"/>
                </a:solidFill>
              </a:rPr>
              <a:t>Automação parece impessoal ou arriscada</a:t>
            </a:r>
            <a:endParaRPr lang="pt-BR" sz="920" typeface="Aptos"/>
          </a:p>
        </p:txBody>
      </p:sp>
      <p:sp>
        <p:nvSpPr>
          <p:cNvPr id="30" name="Shape 30"/>
          <p:cNvSpPr/>
          <p:nvPr/>
        </p:nvSpPr>
        <p:spPr>
          <a:xfrm>
            <a:off x="5961888" y="5120640"/>
            <a:ext cx="54406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1D48"/>
            </a:solidFill>
          </a:ln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6153912" y="5257800"/>
            <a:ext cx="192024" cy="192024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6510528" y="5248656"/>
            <a:ext cx="4526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80" b="0" i="0" typeface="Aptos">
                <a:solidFill>
                  <a:srgbClr val="12243A"/>
                </a:solidFill>
              </a:rPr>
              <a:t>Transferência para humano e regras que evitam respostas sem confirmação.</a:t>
            </a:r>
            <a:endParaRPr lang="pt-BR" sz="880" typeface="Aptos"/>
          </a:p>
        </p:txBody>
      </p:sp>
      <p:sp>
        <p:nvSpPr>
          <p:cNvPr id="33" name="Text 33"/>
          <p:cNvSpPr txBox="1"/>
          <p:nvPr/>
        </p:nvSpPr>
        <p:spPr>
          <a:xfrm>
            <a:off x="5614416" y="396849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1900" b="1" i="0" typeface="Aptos">
                <a:solidFill>
                  <a:srgbClr val="2563EB"/>
                </a:solidFill>
              </a:rPr>
              <a:t>→</a:t>
            </a:r>
            <a:endParaRPr lang="pt-BR" sz="1900" typeface="Apto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75488" y="365760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868680" y="356616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200" b="1" i="0" typeface="Aptos">
                <a:solidFill>
                  <a:srgbClr val="12243A"/>
                </a:solidFill>
              </a:rPr>
              <a:t>Mavo Talk</a:t>
            </a:r>
            <a:endParaRPr lang="pt-BR" sz="1200" typeface="Aptos"/>
          </a:p>
        </p:txBody>
      </p:sp>
      <p:sp>
        <p:nvSpPr>
          <p:cNvPr id="4" name="Text 4"/>
          <p:cNvSpPr txBox="1"/>
          <p:nvPr/>
        </p:nvSpPr>
        <p:spPr>
          <a:xfrm>
            <a:off x="9729216" y="39319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r" marL="0" indent="0" spcBef="0" spcAft="0"/>
            <a:r>
              <a:rPr lang="pt-BR" sz="750" b="1" i="0" typeface="Aptos">
                <a:solidFill>
                  <a:srgbClr val="64748B"/>
                </a:solidFill>
              </a:rPr>
              <a:t>CENTRAL DE CONVERSAS</a:t>
            </a:r>
            <a:endParaRPr lang="pt-BR" sz="750" typeface="Aptos"/>
          </a:p>
        </p:txBody>
      </p:sp>
      <p:sp>
        <p:nvSpPr>
          <p:cNvPr id="5" name="Shape 5"/>
          <p:cNvSpPr/>
          <p:nvPr/>
        </p:nvSpPr>
        <p:spPr>
          <a:xfrm>
            <a:off x="475488" y="6473952"/>
            <a:ext cx="112288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484632" y="6565392"/>
            <a:ext cx="38404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650" b="1" i="0" typeface="Aptos">
                <a:solidFill>
                  <a:srgbClr val="94A3B8"/>
                </a:solidFill>
              </a:rPr>
              <a:t>MAVO TALK  •  APRESENTAÇÃO COMERCIAL</a:t>
            </a:r>
            <a:endParaRPr lang="pt-BR" sz="650" typeface="Aptos"/>
          </a:p>
        </p:txBody>
      </p:sp>
      <p:sp>
        <p:nvSpPr>
          <p:cNvPr id="7" name="Text 7"/>
          <p:cNvSpPr txBox="1"/>
          <p:nvPr/>
        </p:nvSpPr>
        <p:spPr>
          <a:xfrm>
            <a:off x="11119104" y="6547104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r" marL="0" indent="0" spcBef="0" spcAft="0"/>
            <a:r>
              <a:rPr lang="pt-BR" sz="750" b="1" i="0" typeface="Aptos">
                <a:solidFill>
                  <a:srgbClr val="2563EB"/>
                </a:solidFill>
              </a:rPr>
              <a:t>05</a:t>
            </a:r>
            <a:endParaRPr lang="pt-BR" sz="750" typeface="Aptos"/>
          </a:p>
        </p:txBody>
      </p:sp>
      <p:sp>
        <p:nvSpPr>
          <p:cNvPr id="8" name="Text 8"/>
          <p:cNvSpPr txBox="1"/>
          <p:nvPr/>
        </p:nvSpPr>
        <p:spPr>
          <a:xfrm>
            <a:off x="658368" y="914400"/>
            <a:ext cx="6309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00" b="1" i="0" typeface="Aptos">
                <a:solidFill>
                  <a:srgbClr val="2563EB"/>
                </a:solidFill>
              </a:rPr>
              <a:t>COMO FUNCIONA</a:t>
            </a:r>
            <a:endParaRPr lang="pt-BR" sz="800" typeface="Aptos"/>
          </a:p>
        </p:txBody>
      </p:sp>
      <p:sp>
        <p:nvSpPr>
          <p:cNvPr id="9" name="Text 9"/>
          <p:cNvSpPr txBox="1"/>
          <p:nvPr/>
        </p:nvSpPr>
        <p:spPr>
          <a:xfrm>
            <a:off x="658368" y="1261872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2800" b="1" i="0" typeface="Aptos">
                <a:solidFill>
                  <a:srgbClr val="081B33"/>
                </a:solidFill>
              </a:rPr>
              <a:t>Da primeira mensagem à resolução,
um fluxo claro para todos.</a:t>
            </a:r>
            <a:endParaRPr lang="pt-BR" sz="2800" typeface="Aptos"/>
          </a:p>
        </p:txBody>
      </p:sp>
      <p:sp>
        <p:nvSpPr>
          <p:cNvPr id="10" name="Text 10"/>
          <p:cNvSpPr txBox="1"/>
          <p:nvPr/>
        </p:nvSpPr>
        <p:spPr>
          <a:xfrm>
            <a:off x="676656" y="2249424"/>
            <a:ext cx="59436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300" b="0" i="0" typeface="Aptos">
                <a:solidFill>
                  <a:srgbClr val="64748B"/>
                </a:solidFill>
              </a:rPr>
              <a:t>Cada etapa é pensada para não deixar clientes nem demandas importantes sem acompanhamento.</a:t>
            </a:r>
            <a:endParaRPr lang="pt-BR" sz="1300" typeface="Aptos"/>
          </a:p>
        </p:txBody>
      </p:sp>
      <p:sp>
        <p:nvSpPr>
          <p:cNvPr id="11" name="Ellipse 11"/>
          <p:cNvSpPr/>
          <p:nvPr/>
        </p:nvSpPr>
        <p:spPr>
          <a:xfrm>
            <a:off x="1179576" y="2880360"/>
            <a:ext cx="804672" cy="8046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1179576" y="3163824"/>
            <a:ext cx="80467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1100" b="1" i="0" typeface="Aptos">
                <a:solidFill>
                  <a:srgbClr val="FFFFFF"/>
                </a:solidFill>
              </a:rPr>
              <a:t>1</a:t>
            </a:r>
            <a:endParaRPr lang="pt-BR" sz="1100" typeface="Aptos"/>
          </a:p>
        </p:txBody>
      </p:sp>
      <p:sp>
        <p:nvSpPr>
          <p:cNvPr id="13" name="Text 13"/>
          <p:cNvSpPr txBox="1"/>
          <p:nvPr/>
        </p:nvSpPr>
        <p:spPr>
          <a:xfrm>
            <a:off x="667512" y="39776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1200" b="1" i="0" typeface="Aptos">
                <a:solidFill>
                  <a:srgbClr val="12243A"/>
                </a:solidFill>
              </a:rPr>
              <a:t>Mensagem</a:t>
            </a:r>
            <a:endParaRPr lang="pt-BR" sz="1200" typeface="Aptos"/>
          </a:p>
        </p:txBody>
      </p:sp>
      <p:sp>
        <p:nvSpPr>
          <p:cNvPr id="14" name="Text 14"/>
          <p:cNvSpPr txBox="1"/>
          <p:nvPr/>
        </p:nvSpPr>
        <p:spPr>
          <a:xfrm>
            <a:off x="713232" y="4334256"/>
            <a:ext cx="173736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830" b="0" i="0" typeface="Aptos">
                <a:solidFill>
                  <a:srgbClr val="64748B"/>
                </a:solidFill>
              </a:rPr>
              <a:t>O cliente chama pelo WhatsApp.</a:t>
            </a:r>
            <a:endParaRPr lang="pt-BR" sz="830" typeface="Aptos"/>
          </a:p>
        </p:txBody>
      </p:sp>
      <p:sp>
        <p:nvSpPr>
          <p:cNvPr id="16" name="Ellipse 16"/>
          <p:cNvSpPr/>
          <p:nvPr/>
        </p:nvSpPr>
        <p:spPr>
          <a:xfrm>
            <a:off x="3447288" y="2880360"/>
            <a:ext cx="804672" cy="8046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3447288" y="3163824"/>
            <a:ext cx="80467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1100" b="1" i="0" typeface="Aptos">
                <a:solidFill>
                  <a:srgbClr val="FFFFFF"/>
                </a:solidFill>
              </a:rPr>
              <a:t>2</a:t>
            </a:r>
            <a:endParaRPr lang="pt-BR" sz="1100" typeface="Aptos"/>
          </a:p>
        </p:txBody>
      </p:sp>
      <p:sp>
        <p:nvSpPr>
          <p:cNvPr id="18" name="Text 18"/>
          <p:cNvSpPr txBox="1"/>
          <p:nvPr/>
        </p:nvSpPr>
        <p:spPr>
          <a:xfrm>
            <a:off x="2935224" y="39776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1200" b="1" i="0" typeface="Aptos">
                <a:solidFill>
                  <a:srgbClr val="12243A"/>
                </a:solidFill>
              </a:rPr>
              <a:t>Triagem</a:t>
            </a:r>
            <a:endParaRPr lang="pt-BR" sz="1200" typeface="Aptos"/>
          </a:p>
        </p:txBody>
      </p:sp>
      <p:sp>
        <p:nvSpPr>
          <p:cNvPr id="19" name="Text 19"/>
          <p:cNvSpPr txBox="1"/>
          <p:nvPr/>
        </p:nvSpPr>
        <p:spPr>
          <a:xfrm>
            <a:off x="2980944" y="4334256"/>
            <a:ext cx="173736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830" b="0" i="0" typeface="Aptos">
                <a:solidFill>
                  <a:srgbClr val="64748B"/>
                </a:solidFill>
              </a:rPr>
              <a:t>O Mavo entende a intenção ou apresenta opções.</a:t>
            </a:r>
            <a:endParaRPr lang="pt-BR" sz="830" typeface="Aptos"/>
          </a:p>
        </p:txBody>
      </p:sp>
      <p:sp>
        <p:nvSpPr>
          <p:cNvPr id="21" name="Ellipse 21"/>
          <p:cNvSpPr/>
          <p:nvPr/>
        </p:nvSpPr>
        <p:spPr>
          <a:xfrm>
            <a:off x="5715000" y="2880360"/>
            <a:ext cx="804672" cy="8046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5715000" y="3163824"/>
            <a:ext cx="80467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1100" b="1" i="0" typeface="Aptos">
                <a:solidFill>
                  <a:srgbClr val="FFFFFF"/>
                </a:solidFill>
              </a:rPr>
              <a:t>3</a:t>
            </a:r>
            <a:endParaRPr lang="pt-BR" sz="1100" typeface="Aptos"/>
          </a:p>
        </p:txBody>
      </p:sp>
      <p:sp>
        <p:nvSpPr>
          <p:cNvPr id="23" name="Text 23"/>
          <p:cNvSpPr txBox="1"/>
          <p:nvPr/>
        </p:nvSpPr>
        <p:spPr>
          <a:xfrm>
            <a:off x="5202936" y="39776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1200" b="1" i="0" typeface="Aptos">
                <a:solidFill>
                  <a:srgbClr val="12243A"/>
                </a:solidFill>
              </a:rPr>
              <a:t>Fila</a:t>
            </a:r>
            <a:endParaRPr lang="pt-BR" sz="1200" typeface="Aptos"/>
          </a:p>
        </p:txBody>
      </p:sp>
      <p:sp>
        <p:nvSpPr>
          <p:cNvPr id="24" name="Text 24"/>
          <p:cNvSpPr txBox="1"/>
          <p:nvPr/>
        </p:nvSpPr>
        <p:spPr>
          <a:xfrm>
            <a:off x="5248656" y="4334256"/>
            <a:ext cx="173736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830" b="0" i="0" typeface="Aptos">
                <a:solidFill>
                  <a:srgbClr val="64748B"/>
                </a:solidFill>
              </a:rPr>
              <a:t>A demanda é classificada e encaminhada.</a:t>
            </a:r>
            <a:endParaRPr lang="pt-BR" sz="830" typeface="Aptos"/>
          </a:p>
        </p:txBody>
      </p:sp>
      <p:sp>
        <p:nvSpPr>
          <p:cNvPr id="26" name="Ellipse 26"/>
          <p:cNvSpPr/>
          <p:nvPr/>
        </p:nvSpPr>
        <p:spPr>
          <a:xfrm>
            <a:off x="7982712" y="2880360"/>
            <a:ext cx="804672" cy="8046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7982712" y="3163824"/>
            <a:ext cx="80467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1100" b="1" i="0" typeface="Aptos">
                <a:solidFill>
                  <a:srgbClr val="FFFFFF"/>
                </a:solidFill>
              </a:rPr>
              <a:t>4</a:t>
            </a:r>
            <a:endParaRPr lang="pt-BR" sz="1100" typeface="Aptos"/>
          </a:p>
        </p:txBody>
      </p:sp>
      <p:sp>
        <p:nvSpPr>
          <p:cNvPr id="28" name="Text 28"/>
          <p:cNvSpPr txBox="1"/>
          <p:nvPr/>
        </p:nvSpPr>
        <p:spPr>
          <a:xfrm>
            <a:off x="7470648" y="39776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1200" b="1" i="0" typeface="Aptos">
                <a:solidFill>
                  <a:srgbClr val="12243A"/>
                </a:solidFill>
              </a:rPr>
              <a:t>Atendimento</a:t>
            </a:r>
            <a:endParaRPr lang="pt-BR" sz="1200" typeface="Aptos"/>
          </a:p>
        </p:txBody>
      </p:sp>
      <p:sp>
        <p:nvSpPr>
          <p:cNvPr id="29" name="Text 29"/>
          <p:cNvSpPr txBox="1"/>
          <p:nvPr/>
        </p:nvSpPr>
        <p:spPr>
          <a:xfrm>
            <a:off x="7516368" y="4334256"/>
            <a:ext cx="173736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830" b="0" i="0" typeface="Aptos">
                <a:solidFill>
                  <a:srgbClr val="64748B"/>
                </a:solidFill>
              </a:rPr>
              <a:t>Bot, IA ou pessoa certa atua com contexto.</a:t>
            </a:r>
            <a:endParaRPr lang="pt-BR" sz="830" typeface="Aptos"/>
          </a:p>
        </p:txBody>
      </p:sp>
      <p:sp>
        <p:nvSpPr>
          <p:cNvPr id="31" name="Ellipse 31"/>
          <p:cNvSpPr/>
          <p:nvPr/>
        </p:nvSpPr>
        <p:spPr>
          <a:xfrm>
            <a:off x="10250424" y="2880360"/>
            <a:ext cx="804672" cy="8046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10250424" y="3163824"/>
            <a:ext cx="804672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1100" b="1" i="0" typeface="Aptos">
                <a:solidFill>
                  <a:srgbClr val="FFFFFF"/>
                </a:solidFill>
              </a:rPr>
              <a:t>5</a:t>
            </a:r>
            <a:endParaRPr lang="pt-BR" sz="1100" typeface="Aptos"/>
          </a:p>
        </p:txBody>
      </p:sp>
      <p:sp>
        <p:nvSpPr>
          <p:cNvPr id="33" name="Text 33"/>
          <p:cNvSpPr txBox="1"/>
          <p:nvPr/>
        </p:nvSpPr>
        <p:spPr>
          <a:xfrm>
            <a:off x="9738360" y="39776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1200" b="1" i="0" typeface="Aptos">
                <a:solidFill>
                  <a:srgbClr val="12243A"/>
                </a:solidFill>
              </a:rPr>
              <a:t>Gestão</a:t>
            </a:r>
            <a:endParaRPr lang="pt-BR" sz="1200" typeface="Aptos"/>
          </a:p>
        </p:txBody>
      </p:sp>
      <p:sp>
        <p:nvSpPr>
          <p:cNvPr id="34" name="Text 34"/>
          <p:cNvSpPr txBox="1"/>
          <p:nvPr/>
        </p:nvSpPr>
        <p:spPr>
          <a:xfrm>
            <a:off x="9784080" y="4334256"/>
            <a:ext cx="173736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830" b="0" i="0" typeface="Aptos">
                <a:solidFill>
                  <a:srgbClr val="64748B"/>
                </a:solidFill>
              </a:rPr>
              <a:t>SLA, histórico e indicadores acompanham o ciclo.</a:t>
            </a:r>
            <a:endParaRPr lang="pt-BR" sz="830" typeface="Aptos"/>
          </a:p>
        </p:txBody>
      </p:sp>
      <p:sp>
        <p:nvSpPr>
          <p:cNvPr id="35" name="Shape 35"/>
          <p:cNvSpPr/>
          <p:nvPr/>
        </p:nvSpPr>
        <p:spPr>
          <a:xfrm>
            <a:off x="694944" y="5440680"/>
            <a:ext cx="10771632" cy="530352"/>
          </a:xfrm>
          <a:prstGeom prst="roundRect">
            <a:avLst/>
          </a:prstGeom>
          <a:solidFill>
            <a:srgbClr val="DDF8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Text 36"/>
          <p:cNvSpPr txBox="1"/>
          <p:nvPr/>
        </p:nvSpPr>
        <p:spPr>
          <a:xfrm>
            <a:off x="914400" y="5605272"/>
            <a:ext cx="103327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1050" b="1" i="0" typeface="Aptos">
                <a:solidFill>
                  <a:srgbClr val="047857"/>
                </a:solidFill>
              </a:rPr>
              <a:t>Quando a automação não deve responder, a conversa é transferida para a equipe com todo o contexto já coletado.</a:t>
            </a:r>
            <a:endParaRPr lang="pt-BR" sz="1050" typeface="Apto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75488" y="365760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868680" y="356616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200" b="1" i="0" typeface="Aptos">
                <a:solidFill>
                  <a:srgbClr val="12243A"/>
                </a:solidFill>
              </a:rPr>
              <a:t>Mavo Talk</a:t>
            </a:r>
            <a:endParaRPr lang="pt-BR" sz="1200" typeface="Aptos"/>
          </a:p>
        </p:txBody>
      </p:sp>
      <p:sp>
        <p:nvSpPr>
          <p:cNvPr id="4" name="Text 4"/>
          <p:cNvSpPr txBox="1"/>
          <p:nvPr/>
        </p:nvSpPr>
        <p:spPr>
          <a:xfrm>
            <a:off x="9729216" y="39319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r" marL="0" indent="0" spcBef="0" spcAft="0"/>
            <a:r>
              <a:rPr lang="pt-BR" sz="750" b="1" i="0" typeface="Aptos">
                <a:solidFill>
                  <a:srgbClr val="64748B"/>
                </a:solidFill>
              </a:rPr>
              <a:t>CENTRAL DE CONVERSAS</a:t>
            </a:r>
            <a:endParaRPr lang="pt-BR" sz="750" typeface="Aptos"/>
          </a:p>
        </p:txBody>
      </p:sp>
      <p:sp>
        <p:nvSpPr>
          <p:cNvPr id="5" name="Shape 5"/>
          <p:cNvSpPr/>
          <p:nvPr/>
        </p:nvSpPr>
        <p:spPr>
          <a:xfrm>
            <a:off x="475488" y="6473952"/>
            <a:ext cx="112288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484632" y="6565392"/>
            <a:ext cx="38404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650" b="1" i="0" typeface="Aptos">
                <a:solidFill>
                  <a:srgbClr val="94A3B8"/>
                </a:solidFill>
              </a:rPr>
              <a:t>MAVO TALK  •  APRESENTAÇÃO COMERCIAL</a:t>
            </a:r>
            <a:endParaRPr lang="pt-BR" sz="650" typeface="Aptos"/>
          </a:p>
        </p:txBody>
      </p:sp>
      <p:sp>
        <p:nvSpPr>
          <p:cNvPr id="7" name="Text 7"/>
          <p:cNvSpPr txBox="1"/>
          <p:nvPr/>
        </p:nvSpPr>
        <p:spPr>
          <a:xfrm>
            <a:off x="11119104" y="6547104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r" marL="0" indent="0" spcBef="0" spcAft="0"/>
            <a:r>
              <a:rPr lang="pt-BR" sz="750" b="1" i="0" typeface="Aptos">
                <a:solidFill>
                  <a:srgbClr val="2563EB"/>
                </a:solidFill>
              </a:rPr>
              <a:t>06</a:t>
            </a:r>
            <a:endParaRPr lang="pt-BR" sz="750" typeface="Aptos"/>
          </a:p>
        </p:txBody>
      </p:sp>
      <p:sp>
        <p:nvSpPr>
          <p:cNvPr id="8" name="Text 8"/>
          <p:cNvSpPr txBox="1"/>
          <p:nvPr/>
        </p:nvSpPr>
        <p:spPr>
          <a:xfrm>
            <a:off x="658368" y="914400"/>
            <a:ext cx="6309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00" b="1" i="0" typeface="Aptos">
                <a:solidFill>
                  <a:srgbClr val="2563EB"/>
                </a:solidFill>
              </a:rPr>
              <a:t>EXPERIÊNCIA OPERACIONAL</a:t>
            </a:r>
            <a:endParaRPr lang="pt-BR" sz="800" typeface="Aptos"/>
          </a:p>
        </p:txBody>
      </p:sp>
      <p:sp>
        <p:nvSpPr>
          <p:cNvPr id="9" name="Text 9"/>
          <p:cNvSpPr txBox="1"/>
          <p:nvPr/>
        </p:nvSpPr>
        <p:spPr>
          <a:xfrm>
            <a:off x="658368" y="1261872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2800" b="1" i="0" typeface="Aptos">
                <a:solidFill>
                  <a:srgbClr val="081B33"/>
                </a:solidFill>
              </a:rPr>
              <a:t>Tudo o que a equipe precisa,
sem trocar de tela.</a:t>
            </a:r>
            <a:endParaRPr lang="pt-BR" sz="2800" typeface="Aptos"/>
          </a:p>
        </p:txBody>
      </p:sp>
      <p:sp>
        <p:nvSpPr>
          <p:cNvPr id="10" name="Text 10"/>
          <p:cNvSpPr txBox="1"/>
          <p:nvPr/>
        </p:nvSpPr>
        <p:spPr>
          <a:xfrm>
            <a:off x="676656" y="2249424"/>
            <a:ext cx="59436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300" b="0" i="0" typeface="Aptos">
                <a:solidFill>
                  <a:srgbClr val="64748B"/>
                </a:solidFill>
              </a:rPr>
              <a:t>A inbox centraliza conversas, responsáveis, status e o histórico necessário para uma resposta contextual.</a:t>
            </a:r>
            <a:endParaRPr lang="pt-BR" sz="1300" typeface="Aptos"/>
          </a:p>
        </p:txBody>
      </p:sp>
      <p:sp>
        <p:nvSpPr>
          <p:cNvPr id="11" name="Shape 11"/>
          <p:cNvSpPr/>
          <p:nvPr/>
        </p:nvSpPr>
        <p:spPr>
          <a:xfrm>
            <a:off x="5715000" y="960120"/>
            <a:ext cx="5797296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/>
          <a:lstStyle/>
          <a:p/>
        </p:txBody>
      </p:sp>
      <p:pic>
        <p:nvPicPr>
          <p:cNvPr id="12" name="Screenshot 12"/>
          <p:cNvPicPr/>
          <p:nvPr/>
        </p:nvPicPr>
        <p:blipFill>
          <a:blip r:embed="rId2"/>
          <a:stretch>
            <a:fillRect/>
          </a:stretch>
        </p:blipFill>
        <p:spPr>
          <a:xfrm>
            <a:off x="5843016" y="1088136"/>
            <a:ext cx="5541264" cy="3767328"/>
          </a:xfrm>
          <a:prstGeom prst="rect">
            <a:avLst/>
          </a:prstGeom>
          <a:ln>
            <a:noFill/>
          </a:ln>
        </p:spPr>
      </p:pic>
      <p:sp>
        <p:nvSpPr>
          <p:cNvPr id="13" name="Shape 13"/>
          <p:cNvSpPr/>
          <p:nvPr/>
        </p:nvSpPr>
        <p:spPr>
          <a:xfrm>
            <a:off x="685800" y="3172968"/>
            <a:ext cx="155448" cy="1554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1024128" y="3154680"/>
            <a:ext cx="35204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000" b="1" i="0" typeface="Aptos">
                <a:solidFill>
                  <a:srgbClr val="12243A"/>
                </a:solidFill>
              </a:rPr>
              <a:t>Conversas em fila</a:t>
            </a:r>
            <a:endParaRPr lang="pt-BR" sz="1000" typeface="Aptos"/>
          </a:p>
        </p:txBody>
      </p:sp>
      <p:sp>
        <p:nvSpPr>
          <p:cNvPr id="15" name="Text 15"/>
          <p:cNvSpPr txBox="1"/>
          <p:nvPr/>
        </p:nvSpPr>
        <p:spPr>
          <a:xfrm>
            <a:off x="1024128" y="3429000"/>
            <a:ext cx="38587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50" b="0" i="0" typeface="Aptos">
                <a:solidFill>
                  <a:srgbClr val="64748B"/>
                </a:solidFill>
              </a:rPr>
              <a:t>Visualize o que está aguardando e distribua o trabalho.</a:t>
            </a:r>
            <a:endParaRPr lang="pt-BR" sz="850" typeface="Aptos"/>
          </a:p>
        </p:txBody>
      </p:sp>
      <p:sp>
        <p:nvSpPr>
          <p:cNvPr id="16" name="Shape 16"/>
          <p:cNvSpPr/>
          <p:nvPr/>
        </p:nvSpPr>
        <p:spPr>
          <a:xfrm>
            <a:off x="685800" y="3886200"/>
            <a:ext cx="155448" cy="1554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1024128" y="3867912"/>
            <a:ext cx="35204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000" b="1" i="0" typeface="Aptos">
                <a:solidFill>
                  <a:srgbClr val="12243A"/>
                </a:solidFill>
              </a:rPr>
              <a:t>Histórico no contexto</a:t>
            </a:r>
            <a:endParaRPr lang="pt-BR" sz="1000" typeface="Aptos"/>
          </a:p>
        </p:txBody>
      </p:sp>
      <p:sp>
        <p:nvSpPr>
          <p:cNvPr id="18" name="Text 18"/>
          <p:cNvSpPr txBox="1"/>
          <p:nvPr/>
        </p:nvSpPr>
        <p:spPr>
          <a:xfrm>
            <a:off x="1024128" y="4142232"/>
            <a:ext cx="38587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50" b="0" i="0" typeface="Aptos">
                <a:solidFill>
                  <a:srgbClr val="64748B"/>
                </a:solidFill>
              </a:rPr>
              <a:t>Atenda sem pedir ao cliente para repetir a história.</a:t>
            </a:r>
            <a:endParaRPr lang="pt-BR" sz="850" typeface="Aptos"/>
          </a:p>
        </p:txBody>
      </p:sp>
      <p:sp>
        <p:nvSpPr>
          <p:cNvPr id="19" name="Shape 19"/>
          <p:cNvSpPr/>
          <p:nvPr/>
        </p:nvSpPr>
        <p:spPr>
          <a:xfrm>
            <a:off x="685800" y="4599432"/>
            <a:ext cx="155448" cy="15544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1024128" y="4581144"/>
            <a:ext cx="35204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000" b="1" i="0" typeface="Aptos">
                <a:solidFill>
                  <a:srgbClr val="12243A"/>
                </a:solidFill>
              </a:rPr>
              <a:t>Ação no momento certo</a:t>
            </a:r>
            <a:endParaRPr lang="pt-BR" sz="1000" typeface="Aptos"/>
          </a:p>
        </p:txBody>
      </p:sp>
      <p:sp>
        <p:nvSpPr>
          <p:cNvPr id="21" name="Text 21"/>
          <p:cNvSpPr txBox="1"/>
          <p:nvPr/>
        </p:nvSpPr>
        <p:spPr>
          <a:xfrm>
            <a:off x="1024128" y="4855464"/>
            <a:ext cx="38587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50" b="0" i="0" typeface="Aptos">
                <a:solidFill>
                  <a:srgbClr val="64748B"/>
                </a:solidFill>
              </a:rPr>
              <a:t>Atribua, responda, transfira e encerre a partir da mesma conversa.</a:t>
            </a:r>
            <a:endParaRPr lang="pt-BR" sz="850" typeface="Apto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75488" y="365760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868680" y="356616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200" b="1" i="0" typeface="Aptos">
                <a:solidFill>
                  <a:srgbClr val="12243A"/>
                </a:solidFill>
              </a:rPr>
              <a:t>Mavo Talk</a:t>
            </a:r>
            <a:endParaRPr lang="pt-BR" sz="1200" typeface="Aptos"/>
          </a:p>
        </p:txBody>
      </p:sp>
      <p:sp>
        <p:nvSpPr>
          <p:cNvPr id="4" name="Text 4"/>
          <p:cNvSpPr txBox="1"/>
          <p:nvPr/>
        </p:nvSpPr>
        <p:spPr>
          <a:xfrm>
            <a:off x="9729216" y="39319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r" marL="0" indent="0" spcBef="0" spcAft="0"/>
            <a:r>
              <a:rPr lang="pt-BR" sz="750" b="1" i="0" typeface="Aptos">
                <a:solidFill>
                  <a:srgbClr val="64748B"/>
                </a:solidFill>
              </a:rPr>
              <a:t>CENTRAL DE CONVERSAS</a:t>
            </a:r>
            <a:endParaRPr lang="pt-BR" sz="750" typeface="Aptos"/>
          </a:p>
        </p:txBody>
      </p:sp>
      <p:sp>
        <p:nvSpPr>
          <p:cNvPr id="5" name="Shape 5"/>
          <p:cNvSpPr/>
          <p:nvPr/>
        </p:nvSpPr>
        <p:spPr>
          <a:xfrm>
            <a:off x="475488" y="6473952"/>
            <a:ext cx="112288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484632" y="6565392"/>
            <a:ext cx="38404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650" b="1" i="0" typeface="Aptos">
                <a:solidFill>
                  <a:srgbClr val="94A3B8"/>
                </a:solidFill>
              </a:rPr>
              <a:t>MAVO TALK  •  APRESENTAÇÃO COMERCIAL</a:t>
            </a:r>
            <a:endParaRPr lang="pt-BR" sz="650" typeface="Aptos"/>
          </a:p>
        </p:txBody>
      </p:sp>
      <p:sp>
        <p:nvSpPr>
          <p:cNvPr id="7" name="Text 7"/>
          <p:cNvSpPr txBox="1"/>
          <p:nvPr/>
        </p:nvSpPr>
        <p:spPr>
          <a:xfrm>
            <a:off x="11119104" y="6547104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r" marL="0" indent="0" spcBef="0" spcAft="0"/>
            <a:r>
              <a:rPr lang="pt-BR" sz="750" b="1" i="0" typeface="Aptos">
                <a:solidFill>
                  <a:srgbClr val="2563EB"/>
                </a:solidFill>
              </a:rPr>
              <a:t>07</a:t>
            </a:r>
            <a:endParaRPr lang="pt-BR" sz="750" typeface="Aptos"/>
          </a:p>
        </p:txBody>
      </p:sp>
      <p:sp>
        <p:nvSpPr>
          <p:cNvPr id="8" name="Text 8"/>
          <p:cNvSpPr txBox="1"/>
          <p:nvPr/>
        </p:nvSpPr>
        <p:spPr>
          <a:xfrm>
            <a:off x="658368" y="914400"/>
            <a:ext cx="6309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00" b="1" i="0" typeface="Aptos">
                <a:solidFill>
                  <a:srgbClr val="2563EB"/>
                </a:solidFill>
              </a:rPr>
              <a:t>AUTOMAÇÃO QUE SOMA</a:t>
            </a:r>
            <a:endParaRPr lang="pt-BR" sz="800" typeface="Aptos"/>
          </a:p>
        </p:txBody>
      </p:sp>
      <p:sp>
        <p:nvSpPr>
          <p:cNvPr id="9" name="Text 9"/>
          <p:cNvSpPr txBox="1"/>
          <p:nvPr/>
        </p:nvSpPr>
        <p:spPr>
          <a:xfrm>
            <a:off x="658368" y="1261872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2800" b="1" i="0" typeface="Aptos">
                <a:solidFill>
                  <a:srgbClr val="081B33"/>
                </a:solidFill>
              </a:rPr>
              <a:t>A tecnologia cuida do repetitivo.
A equipe cuida do que importa.</a:t>
            </a:r>
            <a:endParaRPr lang="pt-BR" sz="2800" typeface="Aptos"/>
          </a:p>
        </p:txBody>
      </p:sp>
      <p:sp>
        <p:nvSpPr>
          <p:cNvPr id="10" name="Text 10"/>
          <p:cNvSpPr txBox="1"/>
          <p:nvPr/>
        </p:nvSpPr>
        <p:spPr>
          <a:xfrm>
            <a:off x="676656" y="2249424"/>
            <a:ext cx="59436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300" b="0" i="0" typeface="Aptos">
                <a:solidFill>
                  <a:srgbClr val="64748B"/>
                </a:solidFill>
              </a:rPr>
              <a:t>O Mavo combina menu, linguagem natural, regras e IA opcional para oferecer agilidade com responsabilidade.</a:t>
            </a:r>
            <a:endParaRPr lang="pt-BR" sz="1300" typeface="Aptos"/>
          </a:p>
        </p:txBody>
      </p:sp>
      <p:sp>
        <p:nvSpPr>
          <p:cNvPr id="11" name="Shape 11"/>
          <p:cNvSpPr/>
          <p:nvPr/>
        </p:nvSpPr>
        <p:spPr>
          <a:xfrm>
            <a:off x="713232" y="3337560"/>
            <a:ext cx="3401568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941832" y="3566160"/>
            <a:ext cx="475488" cy="47548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941832" y="3712464"/>
            <a:ext cx="47548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900" b="1" i="0" typeface="Aptos">
                <a:solidFill>
                  <a:srgbClr val="FFFFFF"/>
                </a:solidFill>
              </a:rPr>
              <a:t>1</a:t>
            </a:r>
            <a:endParaRPr lang="pt-BR" sz="900" typeface="Aptos"/>
          </a:p>
        </p:txBody>
      </p:sp>
      <p:sp>
        <p:nvSpPr>
          <p:cNvPr id="14" name="Text 14"/>
          <p:cNvSpPr txBox="1"/>
          <p:nvPr/>
        </p:nvSpPr>
        <p:spPr>
          <a:xfrm>
            <a:off x="1591056" y="3621024"/>
            <a:ext cx="214884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100" b="1" i="0" typeface="Aptos">
                <a:solidFill>
                  <a:srgbClr val="12243A"/>
                </a:solidFill>
              </a:rPr>
              <a:t>Menu e intenções</a:t>
            </a:r>
            <a:endParaRPr lang="pt-BR" sz="1100" typeface="Aptos"/>
          </a:p>
        </p:txBody>
      </p:sp>
      <p:sp>
        <p:nvSpPr>
          <p:cNvPr id="15" name="Text 15"/>
          <p:cNvSpPr txBox="1"/>
          <p:nvPr/>
        </p:nvSpPr>
        <p:spPr>
          <a:xfrm>
            <a:off x="996696" y="4279392"/>
            <a:ext cx="2816352" cy="3931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80" b="0" i="0" typeface="Aptos">
                <a:solidFill>
                  <a:srgbClr val="64748B"/>
                </a:solidFill>
              </a:rPr>
              <a:t>O cliente pode escolher uma opção ou escrever naturalmente o que precisa.</a:t>
            </a:r>
            <a:endParaRPr lang="pt-BR" sz="880" typeface="Aptos"/>
          </a:p>
        </p:txBody>
      </p:sp>
      <p:sp>
        <p:nvSpPr>
          <p:cNvPr id="16" name="Shape 16"/>
          <p:cNvSpPr/>
          <p:nvPr/>
        </p:nvSpPr>
        <p:spPr>
          <a:xfrm>
            <a:off x="4507992" y="3337560"/>
            <a:ext cx="3401568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4736592" y="3566160"/>
            <a:ext cx="475488" cy="47548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4736592" y="3712464"/>
            <a:ext cx="47548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900" b="1" i="0" typeface="Aptos">
                <a:solidFill>
                  <a:srgbClr val="FFFFFF"/>
                </a:solidFill>
              </a:rPr>
              <a:t>2</a:t>
            </a:r>
            <a:endParaRPr lang="pt-BR" sz="900" typeface="Aptos"/>
          </a:p>
        </p:txBody>
      </p:sp>
      <p:sp>
        <p:nvSpPr>
          <p:cNvPr id="19" name="Text 19"/>
          <p:cNvSpPr txBox="1"/>
          <p:nvPr/>
        </p:nvSpPr>
        <p:spPr>
          <a:xfrm>
            <a:off x="5385816" y="3621024"/>
            <a:ext cx="214884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100" b="1" i="0" typeface="Aptos">
                <a:solidFill>
                  <a:srgbClr val="12243A"/>
                </a:solidFill>
              </a:rPr>
              <a:t>Coleta de contexto</a:t>
            </a:r>
            <a:endParaRPr lang="pt-BR" sz="1100" typeface="Aptos"/>
          </a:p>
        </p:txBody>
      </p:sp>
      <p:sp>
        <p:nvSpPr>
          <p:cNvPr id="20" name="Text 20"/>
          <p:cNvSpPr txBox="1"/>
          <p:nvPr/>
        </p:nvSpPr>
        <p:spPr>
          <a:xfrm>
            <a:off x="4791456" y="4279392"/>
            <a:ext cx="2816352" cy="3931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80" b="0" i="0" typeface="Aptos">
                <a:solidFill>
                  <a:srgbClr val="64748B"/>
                </a:solidFill>
              </a:rPr>
              <a:t>O fluxo pede as informações certas antes de encaminhar a demanda.</a:t>
            </a:r>
            <a:endParaRPr lang="pt-BR" sz="880" typeface="Aptos"/>
          </a:p>
        </p:txBody>
      </p:sp>
      <p:sp>
        <p:nvSpPr>
          <p:cNvPr id="21" name="Shape 21"/>
          <p:cNvSpPr/>
          <p:nvPr/>
        </p:nvSpPr>
        <p:spPr>
          <a:xfrm>
            <a:off x="8302752" y="3337560"/>
            <a:ext cx="3401568" cy="15727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8531352" y="3566160"/>
            <a:ext cx="475488" cy="47548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8531352" y="3712464"/>
            <a:ext cx="47548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900" b="1" i="0" typeface="Aptos">
                <a:solidFill>
                  <a:srgbClr val="FFFFFF"/>
                </a:solidFill>
              </a:rPr>
              <a:t>3</a:t>
            </a:r>
            <a:endParaRPr lang="pt-BR" sz="900" typeface="Aptos"/>
          </a:p>
        </p:txBody>
      </p:sp>
      <p:sp>
        <p:nvSpPr>
          <p:cNvPr id="24" name="Text 24"/>
          <p:cNvSpPr txBox="1"/>
          <p:nvPr/>
        </p:nvSpPr>
        <p:spPr>
          <a:xfrm>
            <a:off x="9180576" y="3621024"/>
            <a:ext cx="2148840" cy="2468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100" b="1" i="0" typeface="Aptos">
                <a:solidFill>
                  <a:srgbClr val="12243A"/>
                </a:solidFill>
              </a:rPr>
              <a:t>Transferência humana</a:t>
            </a:r>
            <a:endParaRPr lang="pt-BR" sz="1100" typeface="Aptos"/>
          </a:p>
        </p:txBody>
      </p:sp>
      <p:sp>
        <p:nvSpPr>
          <p:cNvPr id="25" name="Text 25"/>
          <p:cNvSpPr txBox="1"/>
          <p:nvPr/>
        </p:nvSpPr>
        <p:spPr>
          <a:xfrm>
            <a:off x="8586216" y="4279392"/>
            <a:ext cx="2816352" cy="3931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80" b="0" i="0" typeface="Aptos">
                <a:solidFill>
                  <a:srgbClr val="64748B"/>
                </a:solidFill>
              </a:rPr>
              <a:t>Casos sensíveis, preço, estoque ou exceções seguem para a pessoa certa.</a:t>
            </a:r>
            <a:endParaRPr lang="pt-BR" sz="880" typeface="Aptos"/>
          </a:p>
        </p:txBody>
      </p:sp>
      <p:sp>
        <p:nvSpPr>
          <p:cNvPr id="26" name="Shape 26"/>
          <p:cNvSpPr/>
          <p:nvPr/>
        </p:nvSpPr>
        <p:spPr>
          <a:xfrm>
            <a:off x="713232" y="5376672"/>
            <a:ext cx="10954512" cy="502920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914400" y="5532120"/>
            <a:ext cx="10515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1000" b="1" i="0" typeface="Aptos">
                <a:solidFill>
                  <a:srgbClr val="081B33"/>
                </a:solidFill>
              </a:rPr>
              <a:t>Regras de segurança evitam a confirmação indevida de informações e mantêm a operação humana no controle.</a:t>
            </a:r>
            <a:endParaRPr lang="pt-BR" sz="1000" typeface="Apto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75488" y="365760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868680" y="356616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200" b="1" i="0" typeface="Aptos">
                <a:solidFill>
                  <a:srgbClr val="12243A"/>
                </a:solidFill>
              </a:rPr>
              <a:t>Mavo Talk</a:t>
            </a:r>
            <a:endParaRPr lang="pt-BR" sz="1200" typeface="Aptos"/>
          </a:p>
        </p:txBody>
      </p:sp>
      <p:sp>
        <p:nvSpPr>
          <p:cNvPr id="4" name="Text 4"/>
          <p:cNvSpPr txBox="1"/>
          <p:nvPr/>
        </p:nvSpPr>
        <p:spPr>
          <a:xfrm>
            <a:off x="9729216" y="39319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r" marL="0" indent="0" spcBef="0" spcAft="0"/>
            <a:r>
              <a:rPr lang="pt-BR" sz="750" b="1" i="0" typeface="Aptos">
                <a:solidFill>
                  <a:srgbClr val="64748B"/>
                </a:solidFill>
              </a:rPr>
              <a:t>CENTRAL DE CONVERSAS</a:t>
            </a:r>
            <a:endParaRPr lang="pt-BR" sz="750" typeface="Aptos"/>
          </a:p>
        </p:txBody>
      </p:sp>
      <p:sp>
        <p:nvSpPr>
          <p:cNvPr id="5" name="Shape 5"/>
          <p:cNvSpPr/>
          <p:nvPr/>
        </p:nvSpPr>
        <p:spPr>
          <a:xfrm>
            <a:off x="475488" y="6473952"/>
            <a:ext cx="112288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484632" y="6565392"/>
            <a:ext cx="38404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650" b="1" i="0" typeface="Aptos">
                <a:solidFill>
                  <a:srgbClr val="94A3B8"/>
                </a:solidFill>
              </a:rPr>
              <a:t>MAVO TALK  •  APRESENTAÇÃO COMERCIAL</a:t>
            </a:r>
            <a:endParaRPr lang="pt-BR" sz="650" typeface="Aptos"/>
          </a:p>
        </p:txBody>
      </p:sp>
      <p:sp>
        <p:nvSpPr>
          <p:cNvPr id="7" name="Text 7"/>
          <p:cNvSpPr txBox="1"/>
          <p:nvPr/>
        </p:nvSpPr>
        <p:spPr>
          <a:xfrm>
            <a:off x="11119104" y="6547104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r" marL="0" indent="0" spcBef="0" spcAft="0"/>
            <a:r>
              <a:rPr lang="pt-BR" sz="750" b="1" i="0" typeface="Aptos">
                <a:solidFill>
                  <a:srgbClr val="2563EB"/>
                </a:solidFill>
              </a:rPr>
              <a:t>08</a:t>
            </a:r>
            <a:endParaRPr lang="pt-BR" sz="750" typeface="Aptos"/>
          </a:p>
        </p:txBody>
      </p:sp>
      <p:sp>
        <p:nvSpPr>
          <p:cNvPr id="8" name="Text 8"/>
          <p:cNvSpPr txBox="1"/>
          <p:nvPr/>
        </p:nvSpPr>
        <p:spPr>
          <a:xfrm>
            <a:off x="658368" y="914400"/>
            <a:ext cx="6309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00" b="1" i="0" typeface="Aptos">
                <a:solidFill>
                  <a:srgbClr val="2563EB"/>
                </a:solidFill>
              </a:rPr>
              <a:t>GESTÃO VISÍVEL</a:t>
            </a:r>
            <a:endParaRPr lang="pt-BR" sz="800" typeface="Aptos"/>
          </a:p>
        </p:txBody>
      </p:sp>
      <p:sp>
        <p:nvSpPr>
          <p:cNvPr id="9" name="Text 9"/>
          <p:cNvSpPr txBox="1"/>
          <p:nvPr/>
        </p:nvSpPr>
        <p:spPr>
          <a:xfrm>
            <a:off x="658368" y="1261872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2800" b="1" i="0" typeface="Aptos">
                <a:solidFill>
                  <a:srgbClr val="081B33"/>
                </a:solidFill>
              </a:rPr>
              <a:t>Atendimento também é fonte
de decisão.</a:t>
            </a:r>
            <a:endParaRPr lang="pt-BR" sz="2800" typeface="Aptos"/>
          </a:p>
        </p:txBody>
      </p:sp>
      <p:sp>
        <p:nvSpPr>
          <p:cNvPr id="10" name="Text 10"/>
          <p:cNvSpPr txBox="1"/>
          <p:nvPr/>
        </p:nvSpPr>
        <p:spPr>
          <a:xfrm>
            <a:off x="676656" y="2249424"/>
            <a:ext cx="59436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300" b="0" i="0" typeface="Aptos">
                <a:solidFill>
                  <a:srgbClr val="64748B"/>
                </a:solidFill>
              </a:rPr>
              <a:t>O painel transforma a rotina de conversas em uma leitura clara da operação, dos seus indicadores e da evolução do time.</a:t>
            </a:r>
            <a:endParaRPr lang="pt-BR" sz="1300" typeface="Aptos"/>
          </a:p>
        </p:txBody>
      </p:sp>
      <p:sp>
        <p:nvSpPr>
          <p:cNvPr id="11" name="Shape 11"/>
          <p:cNvSpPr/>
          <p:nvPr/>
        </p:nvSpPr>
        <p:spPr>
          <a:xfrm>
            <a:off x="685800" y="3154680"/>
            <a:ext cx="5340096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/>
          <a:lstStyle/>
          <a:p/>
        </p:txBody>
      </p:sp>
      <p:pic>
        <p:nvPicPr>
          <p:cNvPr id="12" name="Screenshot 12"/>
          <p:cNvPicPr/>
          <p:nvPr/>
        </p:nvPicPr>
        <p:blipFill>
          <a:blip r:embed="rId2"/>
          <a:stretch>
            <a:fillRect/>
          </a:stretch>
        </p:blipFill>
        <p:spPr>
          <a:xfrm>
            <a:off x="804672" y="3273552"/>
            <a:ext cx="5102352" cy="1810512"/>
          </a:xfrm>
          <a:prstGeom prst="rect">
            <a:avLst/>
          </a:prstGeom>
          <a:ln>
            <a:noFill/>
          </a:ln>
        </p:spPr>
      </p:pic>
      <p:sp>
        <p:nvSpPr>
          <p:cNvPr id="13" name="Shape 13"/>
          <p:cNvSpPr/>
          <p:nvPr/>
        </p:nvSpPr>
        <p:spPr>
          <a:xfrm>
            <a:off x="6172200" y="3154680"/>
            <a:ext cx="5340096" cy="2148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/>
          <a:lstStyle/>
          <a:p/>
        </p:txBody>
      </p:sp>
      <p:pic>
        <p:nvPicPr>
          <p:cNvPr id="14" name="Screenshot 14"/>
          <p:cNvPicPr/>
          <p:nvPr/>
        </p:nvPicPr>
        <p:blipFill>
          <a:blip r:embed="rId3"/>
          <a:stretch>
            <a:fillRect/>
          </a:stretch>
        </p:blipFill>
        <p:spPr>
          <a:xfrm>
            <a:off x="6291072" y="3273552"/>
            <a:ext cx="5102352" cy="1810512"/>
          </a:xfrm>
          <a:prstGeom prst="rect">
            <a:avLst/>
          </a:prstGeom>
          <a:ln>
            <a:noFill/>
          </a:ln>
        </p:spPr>
      </p:pic>
      <p:sp>
        <p:nvSpPr>
          <p:cNvPr id="15" name="Text 15"/>
          <p:cNvSpPr txBox="1"/>
          <p:nvPr/>
        </p:nvSpPr>
        <p:spPr>
          <a:xfrm>
            <a:off x="822960" y="5559552"/>
            <a:ext cx="506577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950" b="1" i="0" typeface="Aptos">
                <a:solidFill>
                  <a:srgbClr val="12243A"/>
                </a:solidFill>
              </a:rPr>
              <a:t>Acompanhe atendimento, filas e eficiência.</a:t>
            </a:r>
            <a:endParaRPr lang="pt-BR" sz="950" typeface="Aptos"/>
          </a:p>
        </p:txBody>
      </p:sp>
      <p:sp>
        <p:nvSpPr>
          <p:cNvPr id="16" name="Text 16"/>
          <p:cNvSpPr txBox="1"/>
          <p:nvPr/>
        </p:nvSpPr>
        <p:spPr>
          <a:xfrm>
            <a:off x="6309360" y="5559552"/>
            <a:ext cx="506577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950" b="1" i="0" typeface="Aptos">
                <a:solidFill>
                  <a:srgbClr val="12243A"/>
                </a:solidFill>
              </a:rPr>
              <a:t>Leve dados do negócio para a conversa certa.</a:t>
            </a:r>
            <a:endParaRPr lang="pt-BR" sz="950" typeface="Apto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75488" y="365760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868680" y="356616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200" b="1" i="0" typeface="Aptos">
                <a:solidFill>
                  <a:srgbClr val="12243A"/>
                </a:solidFill>
              </a:rPr>
              <a:t>Mavo Talk</a:t>
            </a:r>
            <a:endParaRPr lang="pt-BR" sz="1200" typeface="Aptos"/>
          </a:p>
        </p:txBody>
      </p:sp>
      <p:sp>
        <p:nvSpPr>
          <p:cNvPr id="4" name="Text 4"/>
          <p:cNvSpPr txBox="1"/>
          <p:nvPr/>
        </p:nvSpPr>
        <p:spPr>
          <a:xfrm>
            <a:off x="9729216" y="39319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r" marL="0" indent="0" spcBef="0" spcAft="0"/>
            <a:r>
              <a:rPr lang="pt-BR" sz="750" b="1" i="0" typeface="Aptos">
                <a:solidFill>
                  <a:srgbClr val="64748B"/>
                </a:solidFill>
              </a:rPr>
              <a:t>CENTRAL DE CONVERSAS</a:t>
            </a:r>
            <a:endParaRPr lang="pt-BR" sz="750" typeface="Aptos"/>
          </a:p>
        </p:txBody>
      </p:sp>
      <p:sp>
        <p:nvSpPr>
          <p:cNvPr id="5" name="Shape 5"/>
          <p:cNvSpPr/>
          <p:nvPr/>
        </p:nvSpPr>
        <p:spPr>
          <a:xfrm>
            <a:off x="475488" y="6473952"/>
            <a:ext cx="112288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484632" y="6565392"/>
            <a:ext cx="38404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650" b="1" i="0" typeface="Aptos">
                <a:solidFill>
                  <a:srgbClr val="94A3B8"/>
                </a:solidFill>
              </a:rPr>
              <a:t>MAVO TALK  •  APRESENTAÇÃO COMERCIAL</a:t>
            </a:r>
            <a:endParaRPr lang="pt-BR" sz="650" typeface="Aptos"/>
          </a:p>
        </p:txBody>
      </p:sp>
      <p:sp>
        <p:nvSpPr>
          <p:cNvPr id="7" name="Text 7"/>
          <p:cNvSpPr txBox="1"/>
          <p:nvPr/>
        </p:nvSpPr>
        <p:spPr>
          <a:xfrm>
            <a:off x="11119104" y="6547104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r" marL="0" indent="0" spcBef="0" spcAft="0"/>
            <a:r>
              <a:rPr lang="pt-BR" sz="750" b="1" i="0" typeface="Aptos">
                <a:solidFill>
                  <a:srgbClr val="2563EB"/>
                </a:solidFill>
              </a:rPr>
              <a:t>09</a:t>
            </a:r>
            <a:endParaRPr lang="pt-BR" sz="750" typeface="Aptos"/>
          </a:p>
        </p:txBody>
      </p:sp>
      <p:sp>
        <p:nvSpPr>
          <p:cNvPr id="8" name="Text 8"/>
          <p:cNvSpPr txBox="1"/>
          <p:nvPr/>
        </p:nvSpPr>
        <p:spPr>
          <a:xfrm>
            <a:off x="658368" y="914400"/>
            <a:ext cx="6309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00" b="1" i="0" typeface="Aptos">
                <a:solidFill>
                  <a:srgbClr val="2563EB"/>
                </a:solidFill>
              </a:rPr>
              <a:t>FEITO PARA OPERAR COM CONFIANÇA</a:t>
            </a:r>
            <a:endParaRPr lang="pt-BR" sz="800" typeface="Aptos"/>
          </a:p>
        </p:txBody>
      </p:sp>
      <p:sp>
        <p:nvSpPr>
          <p:cNvPr id="9" name="Text 9"/>
          <p:cNvSpPr txBox="1"/>
          <p:nvPr/>
        </p:nvSpPr>
        <p:spPr>
          <a:xfrm>
            <a:off x="658368" y="1261872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2800" b="1" i="0" typeface="Aptos">
                <a:solidFill>
                  <a:srgbClr val="081B33"/>
                </a:solidFill>
              </a:rPr>
              <a:t>Segurança, controle e escala
para a sua operação.</a:t>
            </a:r>
            <a:endParaRPr lang="pt-BR" sz="2800" typeface="Aptos"/>
          </a:p>
        </p:txBody>
      </p:sp>
      <p:sp>
        <p:nvSpPr>
          <p:cNvPr id="10" name="Text 10"/>
          <p:cNvSpPr txBox="1"/>
          <p:nvPr/>
        </p:nvSpPr>
        <p:spPr>
          <a:xfrm>
            <a:off x="676656" y="2249424"/>
            <a:ext cx="59436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300" b="0" i="0" typeface="Aptos">
                <a:solidFill>
                  <a:srgbClr val="64748B"/>
                </a:solidFill>
              </a:rPr>
              <a:t>Por trás de uma experiência simples, há uma arquitetura preparada para empresas, equipes e integrações.</a:t>
            </a:r>
            <a:endParaRPr lang="pt-BR" sz="1300" typeface="Aptos"/>
          </a:p>
        </p:txBody>
      </p:sp>
      <p:sp>
        <p:nvSpPr>
          <p:cNvPr id="11" name="Shape 11"/>
          <p:cNvSpPr/>
          <p:nvPr/>
        </p:nvSpPr>
        <p:spPr>
          <a:xfrm>
            <a:off x="713232" y="3154680"/>
            <a:ext cx="5138928" cy="1024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932688" y="3374136"/>
            <a:ext cx="384048" cy="384048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932688" y="3483864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800" b="1" i="0" typeface="Aptos">
                <a:solidFill>
                  <a:srgbClr val="2563EB"/>
                </a:solidFill>
              </a:rPr>
              <a:t>✓</a:t>
            </a:r>
            <a:endParaRPr lang="pt-BR" sz="800" typeface="Aptos"/>
          </a:p>
        </p:txBody>
      </p:sp>
      <p:sp>
        <p:nvSpPr>
          <p:cNvPr id="14" name="Text 14"/>
          <p:cNvSpPr txBox="1"/>
          <p:nvPr/>
        </p:nvSpPr>
        <p:spPr>
          <a:xfrm>
            <a:off x="1508760" y="3364992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050" b="1" i="0" typeface="Aptos">
                <a:solidFill>
                  <a:srgbClr val="12243A"/>
                </a:solidFill>
              </a:rPr>
              <a:t>Multiempresa</a:t>
            </a:r>
            <a:endParaRPr lang="pt-BR" sz="1050" typeface="Aptos"/>
          </a:p>
        </p:txBody>
      </p:sp>
      <p:sp>
        <p:nvSpPr>
          <p:cNvPr id="15" name="Text 15"/>
          <p:cNvSpPr txBox="1"/>
          <p:nvPr/>
        </p:nvSpPr>
        <p:spPr>
          <a:xfrm>
            <a:off x="1508760" y="3685032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50" b="0" i="0" typeface="Aptos">
                <a:solidFill>
                  <a:srgbClr val="64748B"/>
                </a:solidFill>
              </a:rPr>
              <a:t>Dados e operações separados por organização.</a:t>
            </a:r>
            <a:endParaRPr lang="pt-BR" sz="850" typeface="Aptos"/>
          </a:p>
        </p:txBody>
      </p:sp>
      <p:sp>
        <p:nvSpPr>
          <p:cNvPr id="16" name="Shape 16"/>
          <p:cNvSpPr/>
          <p:nvPr/>
        </p:nvSpPr>
        <p:spPr>
          <a:xfrm>
            <a:off x="6199632" y="3154680"/>
            <a:ext cx="5138928" cy="1024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6419088" y="3374136"/>
            <a:ext cx="384048" cy="384048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6419088" y="3483864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800" b="1" i="0" typeface="Aptos">
                <a:solidFill>
                  <a:srgbClr val="2563EB"/>
                </a:solidFill>
              </a:rPr>
              <a:t>✓</a:t>
            </a:r>
            <a:endParaRPr lang="pt-BR" sz="800" typeface="Aptos"/>
          </a:p>
        </p:txBody>
      </p:sp>
      <p:sp>
        <p:nvSpPr>
          <p:cNvPr id="19" name="Text 19"/>
          <p:cNvSpPr txBox="1"/>
          <p:nvPr/>
        </p:nvSpPr>
        <p:spPr>
          <a:xfrm>
            <a:off x="6995160" y="3364992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050" b="1" i="0" typeface="Aptos">
                <a:solidFill>
                  <a:srgbClr val="12243A"/>
                </a:solidFill>
              </a:rPr>
              <a:t>Acesso por perfil</a:t>
            </a:r>
            <a:endParaRPr lang="pt-BR" sz="1050" typeface="Aptos"/>
          </a:p>
        </p:txBody>
      </p:sp>
      <p:sp>
        <p:nvSpPr>
          <p:cNvPr id="20" name="Text 20"/>
          <p:cNvSpPr txBox="1"/>
          <p:nvPr/>
        </p:nvSpPr>
        <p:spPr>
          <a:xfrm>
            <a:off x="6995160" y="3685032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50" b="0" i="0" typeface="Aptos">
                <a:solidFill>
                  <a:srgbClr val="64748B"/>
                </a:solidFill>
              </a:rPr>
              <a:t>Permissões para gestores, administradores e atendentes.</a:t>
            </a:r>
            <a:endParaRPr lang="pt-BR" sz="850" typeface="Aptos"/>
          </a:p>
        </p:txBody>
      </p:sp>
      <p:sp>
        <p:nvSpPr>
          <p:cNvPr id="21" name="Shape 21"/>
          <p:cNvSpPr/>
          <p:nvPr/>
        </p:nvSpPr>
        <p:spPr>
          <a:xfrm>
            <a:off x="713232" y="4517136"/>
            <a:ext cx="5138928" cy="1024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932688" y="4736592"/>
            <a:ext cx="384048" cy="384048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932688" y="4846320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800" b="1" i="0" typeface="Aptos">
                <a:solidFill>
                  <a:srgbClr val="2563EB"/>
                </a:solidFill>
              </a:rPr>
              <a:t>✓</a:t>
            </a:r>
            <a:endParaRPr lang="pt-BR" sz="800" typeface="Aptos"/>
          </a:p>
        </p:txBody>
      </p:sp>
      <p:sp>
        <p:nvSpPr>
          <p:cNvPr id="24" name="Text 24"/>
          <p:cNvSpPr txBox="1"/>
          <p:nvPr/>
        </p:nvSpPr>
        <p:spPr>
          <a:xfrm>
            <a:off x="1508760" y="472744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050" b="1" i="0" typeface="Aptos">
                <a:solidFill>
                  <a:srgbClr val="12243A"/>
                </a:solidFill>
              </a:rPr>
              <a:t>Auditoria e rastreabilidade</a:t>
            </a:r>
            <a:endParaRPr lang="pt-BR" sz="1050" typeface="Aptos"/>
          </a:p>
        </p:txBody>
      </p:sp>
      <p:sp>
        <p:nvSpPr>
          <p:cNvPr id="25" name="Text 25"/>
          <p:cNvSpPr txBox="1"/>
          <p:nvPr/>
        </p:nvSpPr>
        <p:spPr>
          <a:xfrm>
            <a:off x="1508760" y="5047488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50" b="0" i="0" typeface="Aptos">
                <a:solidFill>
                  <a:srgbClr val="64748B"/>
                </a:solidFill>
              </a:rPr>
              <a:t>Ações e consultas relevantes ficam acompanháveis.</a:t>
            </a:r>
            <a:endParaRPr lang="pt-BR" sz="850" typeface="Aptos"/>
          </a:p>
        </p:txBody>
      </p:sp>
      <p:sp>
        <p:nvSpPr>
          <p:cNvPr id="26" name="Shape 26"/>
          <p:cNvSpPr/>
          <p:nvPr/>
        </p:nvSpPr>
        <p:spPr>
          <a:xfrm>
            <a:off x="6199632" y="4517136"/>
            <a:ext cx="5138928" cy="1024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27" name="Shape 27"/>
          <p:cNvSpPr/>
          <p:nvPr/>
        </p:nvSpPr>
        <p:spPr>
          <a:xfrm>
            <a:off x="6419088" y="4736592"/>
            <a:ext cx="384048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ext 28"/>
          <p:cNvSpPr txBox="1"/>
          <p:nvPr/>
        </p:nvSpPr>
        <p:spPr>
          <a:xfrm>
            <a:off x="6419088" y="4846320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800" b="1" i="0" typeface="Aptos">
                <a:solidFill>
                  <a:srgbClr val="FFFFFF"/>
                </a:solidFill>
              </a:rPr>
              <a:t>✓</a:t>
            </a:r>
            <a:endParaRPr lang="pt-BR" sz="800" typeface="Aptos"/>
          </a:p>
        </p:txBody>
      </p:sp>
      <p:sp>
        <p:nvSpPr>
          <p:cNvPr id="29" name="Text 29"/>
          <p:cNvSpPr txBox="1"/>
          <p:nvPr/>
        </p:nvSpPr>
        <p:spPr>
          <a:xfrm>
            <a:off x="6995160" y="472744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050" b="1" i="0" typeface="Aptos">
                <a:solidFill>
                  <a:srgbClr val="12243A"/>
                </a:solidFill>
              </a:rPr>
              <a:t>Integrações</a:t>
            </a:r>
            <a:endParaRPr lang="pt-BR" sz="1050" typeface="Aptos"/>
          </a:p>
        </p:txBody>
      </p:sp>
      <p:sp>
        <p:nvSpPr>
          <p:cNvPr id="30" name="Text 30"/>
          <p:cNvSpPr txBox="1"/>
          <p:nvPr/>
        </p:nvSpPr>
        <p:spPr>
          <a:xfrm>
            <a:off x="6995160" y="5047488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50" b="0" i="0" typeface="Aptos">
                <a:solidFill>
                  <a:srgbClr val="64748B"/>
                </a:solidFill>
              </a:rPr>
              <a:t>Conecte WhatsApp, n8n, IA e sistemas já usados pela empresa.</a:t>
            </a:r>
            <a:endParaRPr lang="pt-BR" sz="850" typeface="Apto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75488" y="365760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868680" y="356616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200" b="1" i="0" typeface="Aptos">
                <a:solidFill>
                  <a:srgbClr val="12243A"/>
                </a:solidFill>
              </a:rPr>
              <a:t>Mavo Talk</a:t>
            </a:r>
            <a:endParaRPr lang="pt-BR" sz="1200" typeface="Aptos"/>
          </a:p>
        </p:txBody>
      </p:sp>
      <p:sp>
        <p:nvSpPr>
          <p:cNvPr id="4" name="Text 4"/>
          <p:cNvSpPr txBox="1"/>
          <p:nvPr/>
        </p:nvSpPr>
        <p:spPr>
          <a:xfrm>
            <a:off x="9729216" y="39319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r" marL="0" indent="0" spcBef="0" spcAft="0"/>
            <a:r>
              <a:rPr lang="pt-BR" sz="750" b="1" i="0" typeface="Aptos">
                <a:solidFill>
                  <a:srgbClr val="64748B"/>
                </a:solidFill>
              </a:rPr>
              <a:t>CENTRAL DE CONVERSAS</a:t>
            </a:r>
            <a:endParaRPr lang="pt-BR" sz="750" typeface="Aptos"/>
          </a:p>
        </p:txBody>
      </p:sp>
      <p:sp>
        <p:nvSpPr>
          <p:cNvPr id="5" name="Shape 5"/>
          <p:cNvSpPr/>
          <p:nvPr/>
        </p:nvSpPr>
        <p:spPr>
          <a:xfrm>
            <a:off x="475488" y="6473952"/>
            <a:ext cx="1122883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484632" y="6565392"/>
            <a:ext cx="38404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650" b="1" i="0" typeface="Aptos">
                <a:solidFill>
                  <a:srgbClr val="94A3B8"/>
                </a:solidFill>
              </a:rPr>
              <a:t>MAVO TALK  •  APRESENTAÇÃO COMERCIAL</a:t>
            </a:r>
            <a:endParaRPr lang="pt-BR" sz="650" typeface="Aptos"/>
          </a:p>
        </p:txBody>
      </p:sp>
      <p:sp>
        <p:nvSpPr>
          <p:cNvPr id="7" name="Text 7"/>
          <p:cNvSpPr txBox="1"/>
          <p:nvPr/>
        </p:nvSpPr>
        <p:spPr>
          <a:xfrm>
            <a:off x="11119104" y="6547104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r" marL="0" indent="0" spcBef="0" spcAft="0"/>
            <a:r>
              <a:rPr lang="pt-BR" sz="750" b="1" i="0" typeface="Aptos">
                <a:solidFill>
                  <a:srgbClr val="2563EB"/>
                </a:solidFill>
              </a:rPr>
              <a:t>10</a:t>
            </a:r>
            <a:endParaRPr lang="pt-BR" sz="750" typeface="Aptos"/>
          </a:p>
        </p:txBody>
      </p:sp>
      <p:sp>
        <p:nvSpPr>
          <p:cNvPr id="8" name="Text 8"/>
          <p:cNvSpPr txBox="1"/>
          <p:nvPr/>
        </p:nvSpPr>
        <p:spPr>
          <a:xfrm>
            <a:off x="658368" y="914400"/>
            <a:ext cx="63093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00" b="1" i="0" typeface="Aptos">
                <a:solidFill>
                  <a:srgbClr val="2563EB"/>
                </a:solidFill>
              </a:rPr>
              <a:t>CAMINHO DE IMPLANTAÇÃO</a:t>
            </a:r>
            <a:endParaRPr lang="pt-BR" sz="800" typeface="Aptos"/>
          </a:p>
        </p:txBody>
      </p:sp>
      <p:sp>
        <p:nvSpPr>
          <p:cNvPr id="9" name="Text 9"/>
          <p:cNvSpPr txBox="1"/>
          <p:nvPr/>
        </p:nvSpPr>
        <p:spPr>
          <a:xfrm>
            <a:off x="658368" y="1261872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2800" b="1" i="0" typeface="Aptos">
                <a:solidFill>
                  <a:srgbClr val="081B33"/>
                </a:solidFill>
              </a:rPr>
              <a:t>Comece com o essencial.
Evolua com sua operação.</a:t>
            </a:r>
            <a:endParaRPr lang="pt-BR" sz="2800" typeface="Aptos"/>
          </a:p>
        </p:txBody>
      </p:sp>
      <p:sp>
        <p:nvSpPr>
          <p:cNvPr id="10" name="Text 10"/>
          <p:cNvSpPr txBox="1"/>
          <p:nvPr/>
        </p:nvSpPr>
        <p:spPr>
          <a:xfrm>
            <a:off x="676656" y="2249424"/>
            <a:ext cx="59436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300" b="0" i="0" typeface="Aptos">
                <a:solidFill>
                  <a:srgbClr val="64748B"/>
                </a:solidFill>
              </a:rPr>
              <a:t>A implantação pode seguir uma jornada simples, orientada pelas prioridades do seu negócio.</a:t>
            </a:r>
            <a:endParaRPr lang="pt-BR" sz="1300" typeface="Aptos"/>
          </a:p>
        </p:txBody>
      </p:sp>
      <p:cxnSp>
        <p:nvCxnSpPr>
          <p:cNvPr id="11" name="Connector 11"/>
          <p:cNvCxnSpPr/>
          <p:nvPr/>
        </p:nvCxnSpPr>
        <p:spPr>
          <a:xfrm>
            <a:off x="1389888" y="3739896"/>
            <a:ext cx="9363456" cy="0"/>
          </a:xfrm>
          <a:prstGeom prst="line">
            <a:avLst/>
          </a:prstGeom>
          <a:ln w="25400">
            <a:solidFill>
              <a:srgbClr val="B8C9EB"/>
            </a:solidFill>
            <a:tailEnd type="none"/>
            <a:headEnd type="none"/>
          </a:ln>
        </p:spPr>
        <p:txBody>
          <a:bodyPr/>
          <a:lstStyle/>
          <a:p/>
        </p:txBody>
      </p:cxnSp>
      <p:sp>
        <p:nvSpPr>
          <p:cNvPr id="12" name="Ellipse 12"/>
          <p:cNvSpPr/>
          <p:nvPr/>
        </p:nvSpPr>
        <p:spPr>
          <a:xfrm>
            <a:off x="1517904" y="3236976"/>
            <a:ext cx="1005840" cy="10058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1517904" y="3584448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1100" b="1" i="0" typeface="Aptos">
                <a:solidFill>
                  <a:srgbClr val="FFFFFF"/>
                </a:solidFill>
              </a:rPr>
              <a:t>1</a:t>
            </a:r>
            <a:endParaRPr lang="pt-BR" sz="1100" typeface="Aptos"/>
          </a:p>
        </p:txBody>
      </p:sp>
      <p:sp>
        <p:nvSpPr>
          <p:cNvPr id="14" name="Text 14"/>
          <p:cNvSpPr txBox="1"/>
          <p:nvPr/>
        </p:nvSpPr>
        <p:spPr>
          <a:xfrm>
            <a:off x="822960" y="4507992"/>
            <a:ext cx="2395728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1100" b="1" i="0" typeface="Aptos">
                <a:solidFill>
                  <a:srgbClr val="12243A"/>
                </a:solidFill>
              </a:rPr>
              <a:t>Mapear</a:t>
            </a:r>
            <a:endParaRPr lang="pt-BR" sz="1100" typeface="Aptos"/>
          </a:p>
        </p:txBody>
      </p:sp>
      <p:sp>
        <p:nvSpPr>
          <p:cNvPr id="15" name="Text 15"/>
          <p:cNvSpPr txBox="1"/>
          <p:nvPr/>
        </p:nvSpPr>
        <p:spPr>
          <a:xfrm>
            <a:off x="758952" y="4855464"/>
            <a:ext cx="25237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850" b="0" i="0" typeface="Aptos">
                <a:solidFill>
                  <a:srgbClr val="64748B"/>
                </a:solidFill>
              </a:rPr>
              <a:t>Canais, tipos de atendimento, filas e responsáveis.</a:t>
            </a:r>
            <a:endParaRPr lang="pt-BR" sz="850" typeface="Aptos"/>
          </a:p>
        </p:txBody>
      </p:sp>
      <p:sp>
        <p:nvSpPr>
          <p:cNvPr id="16" name="Ellipse 16"/>
          <p:cNvSpPr/>
          <p:nvPr/>
        </p:nvSpPr>
        <p:spPr>
          <a:xfrm>
            <a:off x="4306824" y="3236976"/>
            <a:ext cx="1005840" cy="10058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4306824" y="3584448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1100" b="1" i="0" typeface="Aptos">
                <a:solidFill>
                  <a:srgbClr val="FFFFFF"/>
                </a:solidFill>
              </a:rPr>
              <a:t>2</a:t>
            </a:r>
            <a:endParaRPr lang="pt-BR" sz="1100" typeface="Aptos"/>
          </a:p>
        </p:txBody>
      </p:sp>
      <p:sp>
        <p:nvSpPr>
          <p:cNvPr id="18" name="Text 18"/>
          <p:cNvSpPr txBox="1"/>
          <p:nvPr/>
        </p:nvSpPr>
        <p:spPr>
          <a:xfrm>
            <a:off x="3611880" y="4507992"/>
            <a:ext cx="2395728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1100" b="1" i="0" typeface="Aptos">
                <a:solidFill>
                  <a:srgbClr val="12243A"/>
                </a:solidFill>
              </a:rPr>
              <a:t>Configurar</a:t>
            </a:r>
            <a:endParaRPr lang="pt-BR" sz="1100" typeface="Aptos"/>
          </a:p>
        </p:txBody>
      </p:sp>
      <p:sp>
        <p:nvSpPr>
          <p:cNvPr id="19" name="Text 19"/>
          <p:cNvSpPr txBox="1"/>
          <p:nvPr/>
        </p:nvSpPr>
        <p:spPr>
          <a:xfrm>
            <a:off x="3547872" y="4855464"/>
            <a:ext cx="25237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850" b="0" i="0" typeface="Aptos">
                <a:solidFill>
                  <a:srgbClr val="64748B"/>
                </a:solidFill>
              </a:rPr>
              <a:t>WhatsApp, equipe, horários, regras e respostas.</a:t>
            </a:r>
            <a:endParaRPr lang="pt-BR" sz="850" typeface="Aptos"/>
          </a:p>
        </p:txBody>
      </p:sp>
      <p:sp>
        <p:nvSpPr>
          <p:cNvPr id="20" name="Ellipse 20"/>
          <p:cNvSpPr/>
          <p:nvPr/>
        </p:nvSpPr>
        <p:spPr>
          <a:xfrm>
            <a:off x="7095744" y="3236976"/>
            <a:ext cx="1005840" cy="10058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7095744" y="3584448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1100" b="1" i="0" typeface="Aptos">
                <a:solidFill>
                  <a:srgbClr val="FFFFFF"/>
                </a:solidFill>
              </a:rPr>
              <a:t>3</a:t>
            </a:r>
            <a:endParaRPr lang="pt-BR" sz="1100" typeface="Aptos"/>
          </a:p>
        </p:txBody>
      </p:sp>
      <p:sp>
        <p:nvSpPr>
          <p:cNvPr id="22" name="Text 22"/>
          <p:cNvSpPr txBox="1"/>
          <p:nvPr/>
        </p:nvSpPr>
        <p:spPr>
          <a:xfrm>
            <a:off x="6400800" y="4507992"/>
            <a:ext cx="2395728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1100" b="1" i="0" typeface="Aptos">
                <a:solidFill>
                  <a:srgbClr val="12243A"/>
                </a:solidFill>
              </a:rPr>
              <a:t>Validar</a:t>
            </a:r>
            <a:endParaRPr lang="pt-BR" sz="1100" typeface="Aptos"/>
          </a:p>
        </p:txBody>
      </p:sp>
      <p:sp>
        <p:nvSpPr>
          <p:cNvPr id="23" name="Text 23"/>
          <p:cNvSpPr txBox="1"/>
          <p:nvPr/>
        </p:nvSpPr>
        <p:spPr>
          <a:xfrm>
            <a:off x="6336792" y="4855464"/>
            <a:ext cx="25237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850" b="0" i="0" typeface="Aptos">
                <a:solidFill>
                  <a:srgbClr val="64748B"/>
                </a:solidFill>
              </a:rPr>
              <a:t>Teste os fluxos com segurança antes da ativação.</a:t>
            </a:r>
            <a:endParaRPr lang="pt-BR" sz="850" typeface="Aptos"/>
          </a:p>
        </p:txBody>
      </p:sp>
      <p:sp>
        <p:nvSpPr>
          <p:cNvPr id="24" name="Ellipse 24"/>
          <p:cNvSpPr/>
          <p:nvPr/>
        </p:nvSpPr>
        <p:spPr>
          <a:xfrm>
            <a:off x="9884664" y="3236976"/>
            <a:ext cx="1005840" cy="10058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9884664" y="3584448"/>
            <a:ext cx="10058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1100" b="1" i="0" typeface="Aptos">
                <a:solidFill>
                  <a:srgbClr val="FFFFFF"/>
                </a:solidFill>
              </a:rPr>
              <a:t>4</a:t>
            </a:r>
            <a:endParaRPr lang="pt-BR" sz="1100" typeface="Aptos"/>
          </a:p>
        </p:txBody>
      </p:sp>
      <p:sp>
        <p:nvSpPr>
          <p:cNvPr id="26" name="Text 26"/>
          <p:cNvSpPr txBox="1"/>
          <p:nvPr/>
        </p:nvSpPr>
        <p:spPr>
          <a:xfrm>
            <a:off x="9189720" y="4507992"/>
            <a:ext cx="2395728" cy="210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1100" b="1" i="0" typeface="Aptos">
                <a:solidFill>
                  <a:srgbClr val="12243A"/>
                </a:solidFill>
              </a:rPr>
              <a:t>Evoluir</a:t>
            </a:r>
            <a:endParaRPr lang="pt-BR" sz="1100" typeface="Aptos"/>
          </a:p>
        </p:txBody>
      </p:sp>
      <p:sp>
        <p:nvSpPr>
          <p:cNvPr id="27" name="Text 27"/>
          <p:cNvSpPr txBox="1"/>
          <p:nvPr/>
        </p:nvSpPr>
        <p:spPr>
          <a:xfrm>
            <a:off x="9125712" y="4855464"/>
            <a:ext cx="252374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850" b="0" i="0" typeface="Aptos">
                <a:solidFill>
                  <a:srgbClr val="64748B"/>
                </a:solidFill>
              </a:rPr>
              <a:t>Acompanhe indicadores e amplie automações com maturidade.</a:t>
            </a:r>
            <a:endParaRPr lang="pt-BR" sz="850" typeface="Aptos"/>
          </a:p>
        </p:txBody>
      </p:sp>
      <p:sp>
        <p:nvSpPr>
          <p:cNvPr id="28" name="Shape 28"/>
          <p:cNvSpPr/>
          <p:nvPr/>
        </p:nvSpPr>
        <p:spPr>
          <a:xfrm>
            <a:off x="713232" y="5632704"/>
            <a:ext cx="10927080" cy="320040"/>
          </a:xfrm>
          <a:prstGeom prst="roundRect">
            <a:avLst/>
          </a:prstGeom>
          <a:solidFill>
            <a:srgbClr val="DDF8EF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914400" y="5724144"/>
            <a:ext cx="1051560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880" b="1" i="0" typeface="Aptos">
                <a:solidFill>
                  <a:srgbClr val="047857"/>
                </a:solidFill>
              </a:rPr>
              <a:t>A configuração é adaptada ao fluxo real da empresa — não o contrário.</a:t>
            </a:r>
            <a:endParaRPr lang="pt-BR" sz="880" typeface="Apto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75488" y="365760"/>
            <a:ext cx="292608" cy="29260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ext 3"/>
          <p:cNvSpPr txBox="1"/>
          <p:nvPr/>
        </p:nvSpPr>
        <p:spPr>
          <a:xfrm>
            <a:off x="868680" y="356616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200" b="1" i="0" typeface="Aptos">
                <a:solidFill>
                  <a:srgbClr val="FFFFFF"/>
                </a:solidFill>
              </a:rPr>
              <a:t>Mavo Talk</a:t>
            </a:r>
            <a:endParaRPr lang="pt-BR" sz="1200" typeface="Aptos"/>
          </a:p>
        </p:txBody>
      </p:sp>
      <p:sp>
        <p:nvSpPr>
          <p:cNvPr id="4" name="Text 4"/>
          <p:cNvSpPr txBox="1"/>
          <p:nvPr/>
        </p:nvSpPr>
        <p:spPr>
          <a:xfrm>
            <a:off x="9729216" y="39319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r" marL="0" indent="0" spcBef="0" spcAft="0"/>
            <a:r>
              <a:rPr lang="pt-BR" sz="750" b="1" i="0" typeface="Aptos">
                <a:solidFill>
                  <a:srgbClr val="B9C8E3"/>
                </a:solidFill>
              </a:rPr>
              <a:t>CENTRAL DE CONVERSAS</a:t>
            </a:r>
            <a:endParaRPr lang="pt-BR" sz="750" typeface="Aptos"/>
          </a:p>
        </p:txBody>
      </p:sp>
      <p:sp>
        <p:nvSpPr>
          <p:cNvPr id="5" name="Shape 5"/>
          <p:cNvSpPr/>
          <p:nvPr/>
        </p:nvSpPr>
        <p:spPr>
          <a:xfrm>
            <a:off x="475488" y="6473952"/>
            <a:ext cx="11228832" cy="13716"/>
          </a:xfrm>
          <a:prstGeom prst="rect">
            <a:avLst/>
          </a:prstGeom>
          <a:solidFill>
            <a:srgbClr val="365071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484632" y="6565392"/>
            <a:ext cx="38404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650" b="1" i="0" typeface="Aptos">
                <a:solidFill>
                  <a:srgbClr val="9BB1D2"/>
                </a:solidFill>
              </a:rPr>
              <a:t>MAVO TALK  •  APRESENTAÇÃO COMERCIAL</a:t>
            </a:r>
            <a:endParaRPr lang="pt-BR" sz="650" typeface="Aptos"/>
          </a:p>
        </p:txBody>
      </p:sp>
      <p:sp>
        <p:nvSpPr>
          <p:cNvPr id="7" name="Text 7"/>
          <p:cNvSpPr txBox="1"/>
          <p:nvPr/>
        </p:nvSpPr>
        <p:spPr>
          <a:xfrm>
            <a:off x="11119104" y="6547104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r" marL="0" indent="0" spcBef="0" spcAft="0"/>
            <a:r>
              <a:rPr lang="pt-BR" sz="750" b="1" i="0" typeface="Aptos">
                <a:solidFill>
                  <a:srgbClr val="22D3EE"/>
                </a:solidFill>
              </a:rPr>
              <a:t>11</a:t>
            </a:r>
            <a:endParaRPr lang="pt-BR" sz="750" typeface="Aptos"/>
          </a:p>
        </p:txBody>
      </p:sp>
      <p:sp>
        <p:nvSpPr>
          <p:cNvPr id="8" name="Ellipse 8"/>
          <p:cNvSpPr/>
          <p:nvPr/>
        </p:nvSpPr>
        <p:spPr>
          <a:xfrm>
            <a:off x="-1371600" y="4206240"/>
            <a:ext cx="5303520" cy="5303520"/>
          </a:xfrm>
          <a:prstGeom prst="ellipse">
            <a:avLst/>
          </a:prstGeom>
          <a:solidFill>
            <a:srgbClr val="2563EB">
              <a:alpha val="24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lipse 9"/>
          <p:cNvSpPr/>
          <p:nvPr/>
        </p:nvSpPr>
        <p:spPr>
          <a:xfrm>
            <a:off x="8686800" y="-2011680"/>
            <a:ext cx="4663440" cy="4663440"/>
          </a:xfrm>
          <a:prstGeom prst="ellipse">
            <a:avLst/>
          </a:prstGeom>
          <a:solidFill>
            <a:srgbClr val="22D3EE">
              <a:alpha val="1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713232" y="1252728"/>
            <a:ext cx="4023360" cy="1920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800" b="1" i="0" typeface="Aptos">
                <a:solidFill>
                  <a:srgbClr val="A9C6FF"/>
                </a:solidFill>
              </a:rPr>
              <a:t>PRONTO PARA O PRÓXIMO ATENDIMENTO</a:t>
            </a:r>
            <a:endParaRPr lang="pt-BR" sz="800" typeface="Aptos"/>
          </a:p>
        </p:txBody>
      </p:sp>
      <p:sp>
        <p:nvSpPr>
          <p:cNvPr id="11" name="Text 11"/>
          <p:cNvSpPr txBox="1"/>
          <p:nvPr/>
        </p:nvSpPr>
        <p:spPr>
          <a:xfrm>
            <a:off x="685800" y="1682496"/>
            <a:ext cx="6492240" cy="12070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2900" b="1" i="0" typeface="Aptos">
                <a:solidFill>
                  <a:srgbClr val="FFFFFF"/>
                </a:solidFill>
              </a:rPr>
              <a:t>Uma conversa melhor
começa com uma operação melhor.</a:t>
            </a:r>
            <a:endParaRPr lang="pt-BR" sz="2900" typeface="Aptos"/>
          </a:p>
        </p:txBody>
      </p:sp>
      <p:sp>
        <p:nvSpPr>
          <p:cNvPr id="12" name="Text 12"/>
          <p:cNvSpPr txBox="1"/>
          <p:nvPr/>
        </p:nvSpPr>
        <p:spPr>
          <a:xfrm>
            <a:off x="713232" y="3310128"/>
            <a:ext cx="5349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l" marL="0" indent="0" spcBef="0" spcAft="0"/>
            <a:r>
              <a:rPr lang="pt-BR" sz="1300" b="0" i="0" typeface="Aptos">
                <a:solidFill>
                  <a:srgbClr val="C8D5EA"/>
                </a:solidFill>
              </a:rPr>
              <a:t>Mavo Talk centraliza a rotina do WhatsApp para que sua equipe tenha contexto, velocidade e controle em cada interação.</a:t>
            </a:r>
            <a:endParaRPr lang="pt-BR" sz="1300" typeface="Aptos"/>
          </a:p>
        </p:txBody>
      </p:sp>
      <p:sp>
        <p:nvSpPr>
          <p:cNvPr id="13" name="Shape 13"/>
          <p:cNvSpPr/>
          <p:nvPr/>
        </p:nvSpPr>
        <p:spPr>
          <a:xfrm>
            <a:off x="713232" y="4370832"/>
            <a:ext cx="2487168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932688" y="4507992"/>
            <a:ext cx="2057400" cy="1280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750" b="1" i="0" typeface="Aptos">
                <a:solidFill>
                  <a:srgbClr val="FFFFFF"/>
                </a:solidFill>
              </a:rPr>
              <a:t>MAVO TALK · DEMONSTRAÇÃO</a:t>
            </a:r>
            <a:endParaRPr lang="pt-BR" sz="750" typeface="Aptos"/>
          </a:p>
        </p:txBody>
      </p:sp>
      <p:sp>
        <p:nvSpPr>
          <p:cNvPr id="15" name="Shape 15"/>
          <p:cNvSpPr/>
          <p:nvPr/>
        </p:nvSpPr>
        <p:spPr>
          <a:xfrm>
            <a:off x="7004304" y="1353312"/>
            <a:ext cx="4041648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272AB"/>
            </a:solidFill>
          </a:ln>
        </p:spPr>
        <p:txBody>
          <a:bodyPr/>
          <a:lstStyle/>
          <a:p/>
        </p:txBody>
      </p:sp>
      <p:pic>
        <p:nvPicPr>
          <p:cNvPr id="16" name="Screenshot 16"/>
          <p:cNvPicPr/>
          <p:nvPr/>
        </p:nvPicPr>
        <p:blipFill>
          <a:blip r:embed="rId2"/>
          <a:stretch>
            <a:fillRect/>
          </a:stretch>
        </p:blipFill>
        <p:spPr>
          <a:xfrm>
            <a:off x="7132320" y="1481328"/>
            <a:ext cx="3785616" cy="3218688"/>
          </a:xfrm>
          <a:prstGeom prst="rect">
            <a:avLst/>
          </a:prstGeom>
          <a:ln>
            <a:noFill/>
          </a:ln>
        </p:spPr>
      </p:pic>
      <p:sp>
        <p:nvSpPr>
          <p:cNvPr id="17" name="Text 17"/>
          <p:cNvSpPr txBox="1"/>
          <p:nvPr/>
        </p:nvSpPr>
        <p:spPr>
          <a:xfrm>
            <a:off x="7159752" y="5148072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op">
            <a:normAutofit/>
          </a:bodyPr>
          <a:lstStyle/>
          <a:p>
            <a:pPr algn="c" marL="0" indent="0" spcBef="0" spcAft="0"/>
            <a:r>
              <a:rPr lang="pt-BR" sz="870" b="1" i="0" typeface="Aptos">
                <a:solidFill>
                  <a:srgbClr val="B9C8E3"/>
                </a:solidFill>
              </a:rPr>
              <a:t>Atendimento, gestão e automação em uma única plataforma.</a:t>
            </a:r>
            <a:endParaRPr lang="pt-BR" sz="870" typeface="Apto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vo Talk">
  <a:themeElements>
    <a:clrScheme name="Mavo">
      <a:dk1>
        <a:srgbClr val="081B33"/>
      </a:dk1>
      <a:lt1>
        <a:srgbClr val="FFFFFF"/>
      </a:lt1>
      <a:dk2>
        <a:srgbClr val="12243A"/>
      </a:dk2>
      <a:lt2>
        <a:srgbClr val="F8FAFC"/>
      </a:lt2>
      <a:accent1>
        <a:srgbClr val="2563EB"/>
      </a:accent1>
      <a:accent2>
        <a:srgbClr val="22D3EE"/>
      </a:accent2>
      <a:accent3>
        <a:srgbClr val="10B981"/>
      </a:accent3>
      <a:accent4>
        <a:srgbClr val="F59E0B"/>
      </a:accent4>
      <a:accent5>
        <a:srgbClr val="E11D48"/>
      </a:accent5>
      <a:accent6>
        <a:srgbClr val="64748B"/>
      </a:accent6>
      <a:hlink>
        <a:srgbClr val="2563EB"/>
      </a:hlink>
      <a:folHlink>
        <a:srgbClr val="7C3AED"/>
      </a:folHlink>
    </a:clrScheme>
    <a:fontScheme name="Mavo Fonts">
      <a:majorFont>
        <a:latin typeface="Aptos Display"/>
      </a:majorFont>
      <a:minorFont>
        <a:latin typeface="Aptos"/>
      </a:minorFont>
    </a:fontScheme>
    <a:fmtScheme name="Mavo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Mavo Talk</Application>
  <Slides>11</Slides>
  <PresentationFormat>Widescreen</PresentationFormat>
  <Company>Mavo Talk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Mavo Talk — Apresentação Comercial</dc:title>
  <dc:creator>Mavo Talk</dc:creator>
  <cp:lastModifiedBy>Mavo Talk</cp:lastModifiedBy>
  <dcterms:created xsi:type="dcterms:W3CDTF">2026-07-29T00:00:00Z</dcterms:created>
  <dcterms:modified xsi:type="dcterms:W3CDTF">2026-07-29T00:00:00Z</dcterms:modified>
</cp:coreProperties>
</file>